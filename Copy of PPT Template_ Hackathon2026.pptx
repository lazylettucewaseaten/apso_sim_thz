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12192000"/>
  <p:embeddedFontLst>
    <p:embeddedFont>
      <p:font typeface="Inter"/>
      <p:regular r:id="rId15"/>
      <p:bold r:id="rId16"/>
      <p:italic r:id="rId17"/>
      <p:boldItalic r:id="rId18"/>
    </p:embeddedFont>
    <p:embeddedFont>
      <p:font typeface="DM Sans SemiBold"/>
      <p:regular r:id="rId19"/>
      <p:bold r:id="rId20"/>
      <p:italic r:id="rId21"/>
      <p:boldItalic r:id="rId22"/>
    </p:embeddedFont>
    <p:embeddedFont>
      <p:font typeface="Inter Medium"/>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ghP+2BEgUVZJXiIBPCACGMDIoc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DMSansSemiBold-bold.fntdata"/><Relationship Id="rId22" Type="http://schemas.openxmlformats.org/officeDocument/2006/relationships/font" Target="fonts/DMSansSemiBold-boldItalic.fntdata"/><Relationship Id="rId21" Type="http://schemas.openxmlformats.org/officeDocument/2006/relationships/font" Target="fonts/DMSansSemiBold-italic.fntdata"/><Relationship Id="rId24" Type="http://schemas.openxmlformats.org/officeDocument/2006/relationships/font" Target="fonts/InterMedium-bold.fntdata"/><Relationship Id="rId23" Type="http://schemas.openxmlformats.org/officeDocument/2006/relationships/font" Target="fonts/InterMedium-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InterMedium-boldItalic.fntdata"/><Relationship Id="rId25" Type="http://schemas.openxmlformats.org/officeDocument/2006/relationships/font" Target="fonts/InterMedium-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Inter-regular.fntdata"/><Relationship Id="rId14" Type="http://schemas.openxmlformats.org/officeDocument/2006/relationships/slide" Target="slides/slide9.xml"/><Relationship Id="rId17" Type="http://schemas.openxmlformats.org/officeDocument/2006/relationships/font" Target="fonts/Inter-italic.fntdata"/><Relationship Id="rId16" Type="http://schemas.openxmlformats.org/officeDocument/2006/relationships/font" Target="fonts/Inter-bold.fntdata"/><Relationship Id="rId19" Type="http://schemas.openxmlformats.org/officeDocument/2006/relationships/font" Target="fonts/DMSansSemiBold-regular.fntdata"/><Relationship Id="rId18" Type="http://schemas.openxmlformats.org/officeDocument/2006/relationships/font" Target="fonts/Inter-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 name="Google Shape;20;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21" name="Google Shape;21;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 name="Google Shape;3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36" name="Google Shape;3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52" name="Google Shape;5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64" name="Google Shape;6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78" name="Google Shape;7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94" name="Google Shape;9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10" name="Google Shape;11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26" name="Google Shape;12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42" name="Google Shape;14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000000"/>
        </a:solidFill>
      </p:bgPr>
    </p:bg>
    <p:spTree>
      <p:nvGrpSpPr>
        <p:cNvPr id="7" name="Shape 7"/>
        <p:cNvGrpSpPr/>
        <p:nvPr/>
      </p:nvGrpSpPr>
      <p:grpSpPr>
        <a:xfrm>
          <a:off x="0" y="0"/>
          <a:ext cx="0" cy="0"/>
          <a:chOff x="0" y="0"/>
          <a:chExt cx="0" cy="0"/>
        </a:xfrm>
      </p:grpSpPr>
      <p:sp>
        <p:nvSpPr>
          <p:cNvPr id="8" name="Google Shape;8;p11"/>
          <p:cNvSpPr/>
          <p:nvPr/>
        </p:nvSpPr>
        <p:spPr>
          <a:xfrm>
            <a:off x="0" y="0"/>
            <a:ext cx="12191695" cy="6858000"/>
          </a:xfrm>
          <a:prstGeom prst="rect">
            <a:avLst/>
          </a:prstGeom>
          <a:solidFill>
            <a:srgbClr val="F5F5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9" name="Google Shape;9;p11"/>
          <p:cNvSpPr/>
          <p:nvPr/>
        </p:nvSpPr>
        <p:spPr>
          <a:xfrm>
            <a:off x="0" y="0"/>
            <a:ext cx="12191695" cy="68580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10" name="Google Shape;10;p11"/>
          <p:cNvSpPr/>
          <p:nvPr/>
        </p:nvSpPr>
        <p:spPr>
          <a:xfrm>
            <a:off x="0" y="0"/>
            <a:ext cx="76200" cy="6858000"/>
          </a:xfrm>
          <a:prstGeom prst="rect">
            <a:avLst/>
          </a:prstGeom>
          <a:solidFill>
            <a:srgbClr val="1F6F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
        <p:nvSpPr>
          <p:cNvPr id="12" name="Google Shape;12;p15"/>
          <p:cNvSpPr/>
          <p:nvPr/>
        </p:nvSpPr>
        <p:spPr>
          <a:xfrm>
            <a:off x="0" y="0"/>
            <a:ext cx="76200" cy="6858000"/>
          </a:xfrm>
          <a:prstGeom prst="rect">
            <a:avLst/>
          </a:prstGeom>
          <a:solidFill>
            <a:srgbClr val="1F6F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000000"/>
        </a:solidFill>
      </p:bgPr>
    </p:bg>
    <p:spTree>
      <p:nvGrpSpPr>
        <p:cNvPr id="14" name="Shape 14"/>
        <p:cNvGrpSpPr/>
        <p:nvPr/>
      </p:nvGrpSpPr>
      <p:grpSpPr>
        <a:xfrm>
          <a:off x="0" y="0"/>
          <a:ext cx="0" cy="0"/>
          <a:chOff x="0" y="0"/>
          <a:chExt cx="0" cy="0"/>
        </a:xfrm>
      </p:grpSpPr>
      <p:sp>
        <p:nvSpPr>
          <p:cNvPr id="15" name="Google Shape;15;p13"/>
          <p:cNvSpPr/>
          <p:nvPr/>
        </p:nvSpPr>
        <p:spPr>
          <a:xfrm>
            <a:off x="0" y="0"/>
            <a:ext cx="12191695" cy="6858000"/>
          </a:xfrm>
          <a:prstGeom prst="rect">
            <a:avLst/>
          </a:prstGeom>
          <a:solidFill>
            <a:srgbClr val="F5F5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13"/>
          <p:cNvSpPr/>
          <p:nvPr/>
        </p:nvSpPr>
        <p:spPr>
          <a:xfrm>
            <a:off x="0" y="0"/>
            <a:ext cx="12191695" cy="68580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0"/>
          <p:cNvSpPr/>
          <p:nvPr/>
        </p:nvSpPr>
        <p:spPr>
          <a:xfrm>
            <a:off x="0" y="0"/>
            <a:ext cx="76200" cy="6858000"/>
          </a:xfrm>
          <a:prstGeom prst="rect">
            <a:avLst/>
          </a:prstGeom>
          <a:solidFill>
            <a:srgbClr val="1F6F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 name="Shape 1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2" r:id="rId1"/>
    <p:sldLayoutId id="2147483653"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1"/>
          <p:cNvSpPr/>
          <p:nvPr/>
        </p:nvSpPr>
        <p:spPr>
          <a:xfrm>
            <a:off x="4399845" y="527745"/>
            <a:ext cx="3391907" cy="318691"/>
          </a:xfrm>
          <a:prstGeom prst="roundRect">
            <a:avLst>
              <a:gd fmla="val 6561" name="adj"/>
            </a:avLst>
          </a:prstGeom>
          <a:noFill/>
          <a:ln>
            <a:noFill/>
          </a:ln>
          <a:effectLst>
            <a:outerShdw blurRad="101600" rotWithShape="0" algn="bl" dir="16200000" dist="50800">
              <a:srgbClr val="1F6FEB"/>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24" name="Google Shape;24;p1"/>
          <p:cNvSpPr/>
          <p:nvPr/>
        </p:nvSpPr>
        <p:spPr>
          <a:xfrm>
            <a:off x="4270282" y="2639361"/>
            <a:ext cx="3792600" cy="214200"/>
          </a:xfrm>
          <a:prstGeom prst="rect">
            <a:avLst/>
          </a:prstGeom>
          <a:noFill/>
          <a:ln>
            <a:noFill/>
          </a:ln>
        </p:spPr>
        <p:txBody>
          <a:bodyPr anchorCtr="0" anchor="t" bIns="0" lIns="0" spcFirstLastPara="1" rIns="0" wrap="square" tIns="0">
            <a:noAutofit/>
          </a:bodyPr>
          <a:lstStyle/>
          <a:p>
            <a:pPr indent="0" lvl="0" marL="0" marR="0" rtl="0" algn="ctr">
              <a:lnSpc>
                <a:spcPct val="128000"/>
              </a:lnSpc>
              <a:spcBef>
                <a:spcPts val="0"/>
              </a:spcBef>
              <a:spcAft>
                <a:spcPts val="0"/>
              </a:spcAft>
              <a:buClr>
                <a:srgbClr val="1F6FEB"/>
              </a:buClr>
              <a:buSzPts val="1050"/>
              <a:buFont typeface="Inter Medium"/>
              <a:buNone/>
            </a:pPr>
            <a:r>
              <a:rPr b="0" i="0" lang="en-US" sz="1050" u="none" cap="none" strike="noStrike">
                <a:solidFill>
                  <a:srgbClr val="1F6FEB"/>
                </a:solidFill>
                <a:latin typeface="Inter Medium"/>
                <a:ea typeface="Inter Medium"/>
                <a:cs typeface="Inter Medium"/>
                <a:sym typeface="Inter Medium"/>
              </a:rPr>
              <a:t> POWERED BY TCOE INDIA</a:t>
            </a:r>
            <a:endParaRPr b="0" i="0" sz="1050" u="none" cap="none" strike="noStrike">
              <a:solidFill>
                <a:schemeClr val="dk1"/>
              </a:solidFill>
              <a:latin typeface="Inter"/>
              <a:ea typeface="Inter"/>
              <a:cs typeface="Inter"/>
              <a:sym typeface="Inter"/>
            </a:endParaRPr>
          </a:p>
        </p:txBody>
      </p:sp>
      <p:sp>
        <p:nvSpPr>
          <p:cNvPr id="25" name="Google Shape;25;p1"/>
          <p:cNvSpPr/>
          <p:nvPr/>
        </p:nvSpPr>
        <p:spPr>
          <a:xfrm>
            <a:off x="975494" y="910630"/>
            <a:ext cx="10240706" cy="1089025"/>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F6FEB"/>
              </a:buClr>
              <a:buSzPts val="6850"/>
              <a:buFont typeface="DM Sans SemiBold"/>
              <a:buNone/>
            </a:pPr>
            <a:r>
              <a:rPr b="0" i="0" lang="en-US" sz="6850" u="none" cap="none" strike="noStrike">
                <a:solidFill>
                  <a:srgbClr val="1F6FEB"/>
                </a:solidFill>
                <a:latin typeface="DM Sans SemiBold"/>
                <a:ea typeface="DM Sans SemiBold"/>
                <a:cs typeface="DM Sans SemiBold"/>
                <a:sym typeface="DM Sans SemiBold"/>
              </a:rPr>
              <a:t>Emerging Technologies</a:t>
            </a:r>
            <a:endParaRPr b="0" i="0" sz="6850" u="none" cap="none" strike="noStrike">
              <a:solidFill>
                <a:schemeClr val="dk1"/>
              </a:solidFill>
              <a:latin typeface="Inter"/>
              <a:ea typeface="Inter"/>
              <a:cs typeface="Inter"/>
              <a:sym typeface="Inter"/>
            </a:endParaRPr>
          </a:p>
        </p:txBody>
      </p:sp>
      <p:sp>
        <p:nvSpPr>
          <p:cNvPr id="26" name="Google Shape;26;p1"/>
          <p:cNvSpPr/>
          <p:nvPr/>
        </p:nvSpPr>
        <p:spPr>
          <a:xfrm>
            <a:off x="2785199" y="1887853"/>
            <a:ext cx="6621300" cy="7515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4213D"/>
              </a:buClr>
              <a:buSzPts val="4700"/>
              <a:buFont typeface="DM Sans SemiBold"/>
              <a:buNone/>
            </a:pPr>
            <a:r>
              <a:rPr b="0" i="0" lang="en-US" sz="4700" u="none" cap="none" strike="noStrike">
                <a:solidFill>
                  <a:srgbClr val="14213D"/>
                </a:solidFill>
                <a:latin typeface="DM Sans SemiBold"/>
                <a:ea typeface="DM Sans SemiBold"/>
                <a:cs typeface="DM Sans SemiBold"/>
                <a:sym typeface="DM Sans SemiBold"/>
              </a:rPr>
              <a:t>Hackathon 2026</a:t>
            </a:r>
            <a:endParaRPr b="0" i="0" sz="4700" u="none" cap="none" strike="noStrike">
              <a:solidFill>
                <a:schemeClr val="dk1"/>
              </a:solidFill>
              <a:latin typeface="Inter"/>
              <a:ea typeface="Inter"/>
              <a:cs typeface="Inter"/>
              <a:sym typeface="Inter"/>
            </a:endParaRPr>
          </a:p>
        </p:txBody>
      </p:sp>
      <p:sp>
        <p:nvSpPr>
          <p:cNvPr id="27" name="Google Shape;27;p1"/>
          <p:cNvSpPr/>
          <p:nvPr/>
        </p:nvSpPr>
        <p:spPr>
          <a:xfrm>
            <a:off x="356682" y="2990251"/>
            <a:ext cx="11478330" cy="334764"/>
          </a:xfrm>
          <a:prstGeom prst="rect">
            <a:avLst/>
          </a:prstGeom>
          <a:noFill/>
          <a:ln>
            <a:noFill/>
          </a:ln>
        </p:spPr>
        <p:txBody>
          <a:bodyPr anchorCtr="0" anchor="t" bIns="0" lIns="0" spcFirstLastPara="1" rIns="0" wrap="square" tIns="0">
            <a:noAutofit/>
          </a:bodyPr>
          <a:lstStyle/>
          <a:p>
            <a:pPr indent="0" lvl="0" marL="0" marR="0" rtl="0" algn="ctr">
              <a:lnSpc>
                <a:spcPct val="128000"/>
              </a:lnSpc>
              <a:spcBef>
                <a:spcPts val="0"/>
              </a:spcBef>
              <a:spcAft>
                <a:spcPts val="0"/>
              </a:spcAft>
              <a:buClr>
                <a:srgbClr val="4A5568"/>
              </a:buClr>
              <a:buSzPts val="1700"/>
              <a:buFont typeface="Inter Medium"/>
              <a:buNone/>
            </a:pPr>
            <a:r>
              <a:rPr b="0" i="1" lang="en-US" sz="1700" u="none" cap="none" strike="noStrike">
                <a:solidFill>
                  <a:srgbClr val="4A5568"/>
                </a:solidFill>
                <a:latin typeface="Inter Medium"/>
                <a:ea typeface="Inter Medium"/>
                <a:cs typeface="Inter Medium"/>
                <a:sym typeface="Inter Medium"/>
              </a:rPr>
              <a:t>Project Submission Template</a:t>
            </a:r>
            <a:endParaRPr b="0" i="0" sz="1700" u="none" cap="none" strike="noStrike">
              <a:solidFill>
                <a:schemeClr val="dk1"/>
              </a:solidFill>
              <a:latin typeface="Inter"/>
              <a:ea typeface="Inter"/>
              <a:cs typeface="Inter"/>
              <a:sym typeface="Inter"/>
            </a:endParaRPr>
          </a:p>
        </p:txBody>
      </p:sp>
      <p:sp>
        <p:nvSpPr>
          <p:cNvPr id="28" name="Google Shape;28;p1"/>
          <p:cNvSpPr/>
          <p:nvPr/>
        </p:nvSpPr>
        <p:spPr>
          <a:xfrm>
            <a:off x="661475" y="3791843"/>
            <a:ext cx="10868745" cy="19050"/>
          </a:xfrm>
          <a:prstGeom prst="roundRect">
            <a:avLst>
              <a:gd fmla="val 59999" name="adj"/>
            </a:avLst>
          </a:prstGeom>
          <a:solidFill>
            <a:srgbClr val="4A5568">
              <a:alpha val="5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29" name="Google Shape;29;p1"/>
          <p:cNvSpPr/>
          <p:nvPr/>
        </p:nvSpPr>
        <p:spPr>
          <a:xfrm>
            <a:off x="661475" y="4035127"/>
            <a:ext cx="10868745" cy="1613198"/>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4A5568"/>
              </a:buClr>
              <a:buSzPts val="1350"/>
              <a:buFont typeface="Inter"/>
              <a:buNone/>
            </a:pPr>
            <a:r>
              <a:rPr b="1" i="0" lang="en-US" sz="1350" u="none" cap="none" strike="noStrike">
                <a:solidFill>
                  <a:srgbClr val="4A5568"/>
                </a:solidFill>
                <a:latin typeface="Inter"/>
                <a:ea typeface="Inter"/>
                <a:cs typeface="Inter"/>
                <a:sym typeface="Inter"/>
              </a:rPr>
              <a:t>Project / Solution Name</a:t>
            </a:r>
            <a:endParaRPr b="0" i="0" sz="1350" u="none" cap="none" strike="noStrike">
              <a:solidFill>
                <a:schemeClr val="dk1"/>
              </a:solidFill>
              <a:latin typeface="Inter"/>
              <a:ea typeface="Inter"/>
              <a:cs typeface="Inter"/>
              <a:sym typeface="Inter"/>
            </a:endParaRPr>
          </a:p>
          <a:p>
            <a:pPr indent="0" lvl="0" marL="0" marR="0" rtl="0" algn="l">
              <a:lnSpc>
                <a:spcPct val="128000"/>
              </a:lnSpc>
              <a:spcBef>
                <a:spcPts val="1400"/>
              </a:spcBef>
              <a:spcAft>
                <a:spcPts val="0"/>
              </a:spcAft>
              <a:buClr>
                <a:srgbClr val="4A5568"/>
              </a:buClr>
              <a:buSzPts val="1350"/>
              <a:buFont typeface="Inter Medium"/>
              <a:buNone/>
            </a:pPr>
            <a:r>
              <a:rPr b="0" i="0" lang="en-US" sz="1350" u="none" cap="none" strike="noStrike">
                <a:solidFill>
                  <a:srgbClr val="4A5568"/>
                </a:solidFill>
                <a:latin typeface="Inter Medium"/>
                <a:ea typeface="Inter Medium"/>
                <a:cs typeface="Inter Medium"/>
                <a:sym typeface="Inter Medium"/>
              </a:rPr>
              <a:t>TeraMove : </a:t>
            </a:r>
            <a:r>
              <a:rPr lang="en-US" sz="1350">
                <a:solidFill>
                  <a:srgbClr val="4A5568"/>
                </a:solidFill>
                <a:latin typeface="Inter Medium"/>
                <a:ea typeface="Inter Medium"/>
                <a:cs typeface="Inter Medium"/>
                <a:sym typeface="Inter Medium"/>
              </a:rPr>
              <a:t>Self-Adapting Terahertz Nodes via Multidimensional Mobility for Indoor Scenarios</a:t>
            </a:r>
            <a:endParaRPr b="0" i="0" sz="1350" u="none" cap="none" strike="noStrike">
              <a:solidFill>
                <a:schemeClr val="dk1"/>
              </a:solidFill>
              <a:latin typeface="Inter"/>
              <a:ea typeface="Inter"/>
              <a:cs typeface="Inter"/>
              <a:sym typeface="Inter"/>
            </a:endParaRPr>
          </a:p>
          <a:p>
            <a:pPr indent="0" lvl="0" marL="0" marR="0" rtl="0" algn="l">
              <a:lnSpc>
                <a:spcPct val="128000"/>
              </a:lnSpc>
              <a:spcBef>
                <a:spcPts val="1400"/>
              </a:spcBef>
              <a:spcAft>
                <a:spcPts val="0"/>
              </a:spcAft>
              <a:buClr>
                <a:srgbClr val="4A5568"/>
              </a:buClr>
              <a:buSzPts val="1350"/>
              <a:buFont typeface="Inter"/>
              <a:buNone/>
            </a:pPr>
            <a:r>
              <a:rPr b="1" i="0" lang="en-US" sz="1350" u="none" cap="none" strike="noStrike">
                <a:solidFill>
                  <a:srgbClr val="4A5568"/>
                </a:solidFill>
                <a:latin typeface="Inter"/>
                <a:ea typeface="Inter"/>
                <a:cs typeface="Inter"/>
                <a:sym typeface="Inter"/>
              </a:rPr>
              <a:t>Team Name:</a:t>
            </a:r>
            <a:endParaRPr b="0" i="0" sz="1350" u="none" cap="none" strike="noStrike">
              <a:solidFill>
                <a:schemeClr val="dk1"/>
              </a:solidFill>
              <a:latin typeface="Inter"/>
              <a:ea typeface="Inter"/>
              <a:cs typeface="Inter"/>
              <a:sym typeface="Inter"/>
            </a:endParaRPr>
          </a:p>
          <a:p>
            <a:pPr indent="0" lvl="0" marL="0" marR="0" rtl="0" algn="l">
              <a:lnSpc>
                <a:spcPct val="128000"/>
              </a:lnSpc>
              <a:spcBef>
                <a:spcPts val="1400"/>
              </a:spcBef>
              <a:spcAft>
                <a:spcPts val="0"/>
              </a:spcAft>
              <a:buClr>
                <a:srgbClr val="4A5568"/>
              </a:buClr>
              <a:buSzPts val="1350"/>
              <a:buFont typeface="Inter Medium"/>
              <a:buNone/>
            </a:pPr>
            <a:r>
              <a:rPr lang="en-US" sz="1350">
                <a:solidFill>
                  <a:srgbClr val="4A5568"/>
                </a:solidFill>
                <a:latin typeface="Inter Medium"/>
                <a:ea typeface="Inter Medium"/>
                <a:cs typeface="Inter Medium"/>
                <a:sym typeface="Inter Medium"/>
              </a:rPr>
              <a:t>TeraMove</a:t>
            </a:r>
            <a:endParaRPr b="0" i="0" sz="1350" u="none" cap="none" strike="noStrike">
              <a:solidFill>
                <a:schemeClr val="dk1"/>
              </a:solidFill>
              <a:latin typeface="Inter"/>
              <a:ea typeface="Inter"/>
              <a:cs typeface="Inter"/>
              <a:sym typeface="Inter"/>
            </a:endParaRPr>
          </a:p>
        </p:txBody>
      </p:sp>
      <p:sp>
        <p:nvSpPr>
          <p:cNvPr id="30" name="Google Shape;30;p1"/>
          <p:cNvSpPr/>
          <p:nvPr/>
        </p:nvSpPr>
        <p:spPr>
          <a:xfrm>
            <a:off x="661475" y="5872559"/>
            <a:ext cx="10868745" cy="19050"/>
          </a:xfrm>
          <a:prstGeom prst="roundRect">
            <a:avLst>
              <a:gd fmla="val 59999" name="adj"/>
            </a:avLst>
          </a:prstGeom>
          <a:solidFill>
            <a:srgbClr val="4A5568">
              <a:alpha val="5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id="31" name="Google Shape;31;p1"/>
          <p:cNvPicPr preferRelativeResize="0"/>
          <p:nvPr/>
        </p:nvPicPr>
        <p:blipFill rotWithShape="1">
          <a:blip r:embed="rId3">
            <a:alphaModFix/>
          </a:blip>
          <a:srcRect b="0" l="0" r="0" t="0"/>
          <a:stretch/>
        </p:blipFill>
        <p:spPr>
          <a:xfrm>
            <a:off x="11447711" y="14398"/>
            <a:ext cx="730096" cy="794247"/>
          </a:xfrm>
          <a:prstGeom prst="rect">
            <a:avLst/>
          </a:prstGeom>
          <a:noFill/>
          <a:ln>
            <a:noFill/>
          </a:ln>
        </p:spPr>
      </p:pic>
      <p:pic>
        <p:nvPicPr>
          <p:cNvPr id="32" name="Google Shape;32;p1" title="WhatsApp_Image_2026-07-08_at_1.09.13_PM-removebg-preview.png"/>
          <p:cNvPicPr preferRelativeResize="0"/>
          <p:nvPr/>
        </p:nvPicPr>
        <p:blipFill rotWithShape="1">
          <a:blip r:embed="rId4">
            <a:alphaModFix/>
          </a:blip>
          <a:srcRect b="0" l="0" r="0" t="0"/>
          <a:stretch/>
        </p:blipFill>
        <p:spPr>
          <a:xfrm>
            <a:off x="87650" y="14400"/>
            <a:ext cx="1939599" cy="1185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2"/>
          <p:cNvSpPr/>
          <p:nvPr/>
        </p:nvSpPr>
        <p:spPr>
          <a:xfrm>
            <a:off x="2785125" y="821834"/>
            <a:ext cx="4330800" cy="465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2900"/>
              <a:buFont typeface="DM Sans SemiBold"/>
              <a:buNone/>
            </a:pPr>
            <a:r>
              <a:rPr b="0" i="0" lang="en-US" sz="2900" u="none" cap="none" strike="noStrike">
                <a:solidFill>
                  <a:srgbClr val="14213D"/>
                </a:solidFill>
                <a:latin typeface="DM Sans SemiBold"/>
                <a:ea typeface="DM Sans SemiBold"/>
                <a:cs typeface="DM Sans SemiBold"/>
                <a:sym typeface="DM Sans SemiBold"/>
              </a:rPr>
              <a:t>About the Team</a:t>
            </a:r>
            <a:endParaRPr b="0" i="0" sz="2900" u="none" cap="none" strike="noStrike">
              <a:solidFill>
                <a:schemeClr val="dk1"/>
              </a:solidFill>
              <a:latin typeface="Calibri"/>
              <a:ea typeface="Calibri"/>
              <a:cs typeface="Calibri"/>
              <a:sym typeface="Calibri"/>
            </a:endParaRPr>
          </a:p>
        </p:txBody>
      </p:sp>
      <p:sp>
        <p:nvSpPr>
          <p:cNvPr id="39" name="Google Shape;39;p2"/>
          <p:cNvSpPr/>
          <p:nvPr/>
        </p:nvSpPr>
        <p:spPr>
          <a:xfrm>
            <a:off x="661475" y="1522413"/>
            <a:ext cx="11478330" cy="212824"/>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4A5568"/>
              </a:buClr>
              <a:buSzPts val="1150"/>
              <a:buFont typeface="Inter Medium"/>
              <a:buNone/>
            </a:pPr>
            <a:r>
              <a:t/>
            </a:r>
            <a:endParaRPr b="0" i="0" sz="1150" u="none" cap="none" strike="noStrike">
              <a:solidFill>
                <a:schemeClr val="dk1"/>
              </a:solidFill>
              <a:latin typeface="Calibri"/>
              <a:ea typeface="Calibri"/>
              <a:cs typeface="Calibri"/>
              <a:sym typeface="Calibri"/>
            </a:endParaRPr>
          </a:p>
        </p:txBody>
      </p:sp>
      <p:sp>
        <p:nvSpPr>
          <p:cNvPr id="40" name="Google Shape;40;p2"/>
          <p:cNvSpPr/>
          <p:nvPr/>
        </p:nvSpPr>
        <p:spPr>
          <a:xfrm>
            <a:off x="661475" y="1911052"/>
            <a:ext cx="2696698" cy="23247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450"/>
              <a:buFont typeface="DM Sans SemiBold"/>
              <a:buNone/>
            </a:pPr>
            <a:r>
              <a:rPr b="0" i="0" lang="en-US" sz="1450" u="none" cap="none" strike="noStrike">
                <a:solidFill>
                  <a:srgbClr val="14213D"/>
                </a:solidFill>
                <a:latin typeface="DM Sans SemiBold"/>
                <a:ea typeface="DM Sans SemiBold"/>
                <a:cs typeface="DM Sans SemiBold"/>
                <a:sym typeface="DM Sans SemiBold"/>
              </a:rPr>
              <a:t>Team</a:t>
            </a:r>
            <a:r>
              <a:rPr lang="en-US" sz="1450">
                <a:solidFill>
                  <a:srgbClr val="14213D"/>
                </a:solidFill>
                <a:latin typeface="DM Sans SemiBold"/>
                <a:ea typeface="DM Sans SemiBold"/>
                <a:cs typeface="DM Sans SemiBold"/>
                <a:sym typeface="DM Sans SemiBold"/>
              </a:rPr>
              <a:t> </a:t>
            </a:r>
            <a:r>
              <a:rPr b="0" i="0" lang="en-US" sz="1450" u="none" cap="none" strike="noStrike">
                <a:solidFill>
                  <a:srgbClr val="14213D"/>
                </a:solidFill>
                <a:latin typeface="DM Sans SemiBold"/>
                <a:ea typeface="DM Sans SemiBold"/>
                <a:cs typeface="DM Sans SemiBold"/>
                <a:sym typeface="DM Sans SemiBold"/>
              </a:rPr>
              <a:t>Name</a:t>
            </a:r>
            <a:endParaRPr b="0" i="0" sz="1450" u="none" cap="none" strike="noStrike">
              <a:solidFill>
                <a:schemeClr val="dk1"/>
              </a:solidFill>
              <a:latin typeface="Calibri"/>
              <a:ea typeface="Calibri"/>
              <a:cs typeface="Calibri"/>
              <a:sym typeface="Calibri"/>
            </a:endParaRPr>
          </a:p>
        </p:txBody>
      </p:sp>
      <p:sp>
        <p:nvSpPr>
          <p:cNvPr id="41" name="Google Shape;41;p2"/>
          <p:cNvSpPr/>
          <p:nvPr/>
        </p:nvSpPr>
        <p:spPr>
          <a:xfrm>
            <a:off x="661475" y="2319337"/>
            <a:ext cx="11478330" cy="212824"/>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4A5568"/>
              </a:buClr>
              <a:buSzPts val="1150"/>
              <a:buFont typeface="Inter Medium"/>
              <a:buNone/>
            </a:pPr>
            <a:r>
              <a:rPr lang="en-US" sz="1150">
                <a:solidFill>
                  <a:srgbClr val="4A5568"/>
                </a:solidFill>
                <a:latin typeface="Inter Medium"/>
                <a:ea typeface="Inter Medium"/>
                <a:cs typeface="Inter Medium"/>
                <a:sym typeface="Inter Medium"/>
              </a:rPr>
              <a:t>TeraMove</a:t>
            </a:r>
            <a:endParaRPr b="0" i="0" sz="1150" u="none" cap="none" strike="noStrike">
              <a:solidFill>
                <a:schemeClr val="dk1"/>
              </a:solidFill>
              <a:latin typeface="Calibri"/>
              <a:ea typeface="Calibri"/>
              <a:cs typeface="Calibri"/>
              <a:sym typeface="Calibri"/>
            </a:endParaRPr>
          </a:p>
        </p:txBody>
      </p:sp>
      <p:sp>
        <p:nvSpPr>
          <p:cNvPr id="42" name="Google Shape;42;p2"/>
          <p:cNvSpPr/>
          <p:nvPr/>
        </p:nvSpPr>
        <p:spPr>
          <a:xfrm>
            <a:off x="661475" y="2707977"/>
            <a:ext cx="2686082" cy="23247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450"/>
              <a:buFont typeface="DM Sans SemiBold"/>
              <a:buNone/>
            </a:pPr>
            <a:r>
              <a:rPr b="0" i="0" lang="en-US" sz="1450" u="none" cap="none" strike="noStrike">
                <a:solidFill>
                  <a:srgbClr val="14213D"/>
                </a:solidFill>
                <a:latin typeface="DM Sans SemiBold"/>
                <a:ea typeface="DM Sans SemiBold"/>
                <a:cs typeface="DM Sans SemiBold"/>
                <a:sym typeface="DM Sans SemiBold"/>
              </a:rPr>
              <a:t>Institute / Organisation</a:t>
            </a:r>
            <a:endParaRPr b="0" i="0" sz="1450" u="none" cap="none" strike="noStrike">
              <a:solidFill>
                <a:schemeClr val="dk1"/>
              </a:solidFill>
              <a:latin typeface="Calibri"/>
              <a:ea typeface="Calibri"/>
              <a:cs typeface="Calibri"/>
              <a:sym typeface="Calibri"/>
            </a:endParaRPr>
          </a:p>
        </p:txBody>
      </p:sp>
      <p:sp>
        <p:nvSpPr>
          <p:cNvPr id="43" name="Google Shape;43;p2"/>
          <p:cNvSpPr/>
          <p:nvPr/>
        </p:nvSpPr>
        <p:spPr>
          <a:xfrm>
            <a:off x="661475" y="3116263"/>
            <a:ext cx="11478330" cy="212824"/>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4A5568"/>
              </a:buClr>
              <a:buSzPts val="1150"/>
              <a:buFont typeface="Inter Medium"/>
              <a:buNone/>
            </a:pPr>
            <a:r>
              <a:rPr lang="en-US" sz="1150">
                <a:solidFill>
                  <a:srgbClr val="4A5568"/>
                </a:solidFill>
                <a:latin typeface="Inter Medium"/>
                <a:ea typeface="Inter Medium"/>
                <a:cs typeface="Inter Medium"/>
                <a:sym typeface="Inter Medium"/>
              </a:rPr>
              <a:t>Indian Institute of Technology, Bhilai</a:t>
            </a:r>
            <a:endParaRPr b="0" i="0" sz="1150" u="none" cap="none" strike="noStrike">
              <a:solidFill>
                <a:schemeClr val="dk1"/>
              </a:solidFill>
              <a:latin typeface="Calibri"/>
              <a:ea typeface="Calibri"/>
              <a:cs typeface="Calibri"/>
              <a:sym typeface="Calibri"/>
            </a:endParaRPr>
          </a:p>
        </p:txBody>
      </p:sp>
      <p:sp>
        <p:nvSpPr>
          <p:cNvPr id="44" name="Google Shape;44;p2"/>
          <p:cNvSpPr/>
          <p:nvPr/>
        </p:nvSpPr>
        <p:spPr>
          <a:xfrm>
            <a:off x="661475" y="3504902"/>
            <a:ext cx="2470187" cy="23247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450"/>
              <a:buFont typeface="DM Sans SemiBold"/>
              <a:buNone/>
            </a:pPr>
            <a:r>
              <a:rPr b="0" i="0" lang="en-US" sz="1450" u="none" cap="none" strike="noStrike">
                <a:solidFill>
                  <a:srgbClr val="14213D"/>
                </a:solidFill>
                <a:latin typeface="DM Sans SemiBold"/>
                <a:ea typeface="DM Sans SemiBold"/>
                <a:cs typeface="DM Sans SemiBold"/>
                <a:sym typeface="DM Sans SemiBold"/>
              </a:rPr>
              <a:t>Technology Vertical</a:t>
            </a:r>
            <a:endParaRPr b="0" i="0" sz="1450" u="none" cap="none" strike="noStrike">
              <a:solidFill>
                <a:schemeClr val="dk1"/>
              </a:solidFill>
              <a:latin typeface="Calibri"/>
              <a:ea typeface="Calibri"/>
              <a:cs typeface="Calibri"/>
              <a:sym typeface="Calibri"/>
            </a:endParaRPr>
          </a:p>
        </p:txBody>
      </p:sp>
      <p:sp>
        <p:nvSpPr>
          <p:cNvPr id="45" name="Google Shape;45;p2"/>
          <p:cNvSpPr/>
          <p:nvPr/>
        </p:nvSpPr>
        <p:spPr>
          <a:xfrm>
            <a:off x="661475" y="3913188"/>
            <a:ext cx="10868745" cy="557510"/>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1000"/>
              </a:spcBef>
              <a:spcAft>
                <a:spcPts val="0"/>
              </a:spcAft>
              <a:buClr>
                <a:srgbClr val="4A5568"/>
              </a:buClr>
              <a:buSzPts val="1150"/>
              <a:buFont typeface="Inter Medium"/>
              <a:buNone/>
            </a:pPr>
            <a:r>
              <a:rPr lang="en-US" sz="1150">
                <a:solidFill>
                  <a:srgbClr val="4A5568"/>
                </a:solidFill>
                <a:latin typeface="Inter Medium"/>
                <a:ea typeface="Inter Medium"/>
                <a:cs typeface="Inter Medium"/>
                <a:sym typeface="Inter Medium"/>
              </a:rPr>
              <a:t>Communication </a:t>
            </a:r>
            <a:endParaRPr b="0" i="0" sz="1150" u="none" cap="none" strike="noStrike">
              <a:solidFill>
                <a:schemeClr val="dk1"/>
              </a:solidFill>
              <a:latin typeface="Calibri"/>
              <a:ea typeface="Calibri"/>
              <a:cs typeface="Calibri"/>
              <a:sym typeface="Calibri"/>
            </a:endParaRPr>
          </a:p>
        </p:txBody>
      </p:sp>
      <p:sp>
        <p:nvSpPr>
          <p:cNvPr id="46" name="Google Shape;46;p2"/>
          <p:cNvSpPr/>
          <p:nvPr/>
        </p:nvSpPr>
        <p:spPr>
          <a:xfrm>
            <a:off x="661475" y="4646513"/>
            <a:ext cx="3385061" cy="23247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450"/>
              <a:buFont typeface="DM Sans SemiBold"/>
              <a:buNone/>
            </a:pPr>
            <a:r>
              <a:rPr b="0" i="0" lang="en-US" sz="1450" u="none" cap="none" strike="noStrike">
                <a:solidFill>
                  <a:srgbClr val="14213D"/>
                </a:solidFill>
                <a:latin typeface="DM Sans SemiBold"/>
                <a:ea typeface="DM Sans SemiBold"/>
                <a:cs typeface="DM Sans SemiBold"/>
                <a:sym typeface="DM Sans SemiBold"/>
              </a:rPr>
              <a:t>Team Members (1–5, with Role, Experience and Expertise)</a:t>
            </a:r>
            <a:endParaRPr b="0" i="0" sz="1400" u="none" cap="none" strike="noStrike">
              <a:solidFill>
                <a:srgbClr val="000000"/>
              </a:solidFill>
              <a:latin typeface="Arial"/>
              <a:ea typeface="Arial"/>
              <a:cs typeface="Arial"/>
              <a:sym typeface="Arial"/>
            </a:endParaRPr>
          </a:p>
        </p:txBody>
      </p:sp>
      <p:sp>
        <p:nvSpPr>
          <p:cNvPr id="47" name="Google Shape;47;p2"/>
          <p:cNvSpPr/>
          <p:nvPr/>
        </p:nvSpPr>
        <p:spPr>
          <a:xfrm>
            <a:off x="661475" y="5158523"/>
            <a:ext cx="10868700" cy="1227900"/>
          </a:xfrm>
          <a:prstGeom prst="rect">
            <a:avLst/>
          </a:prstGeom>
          <a:noFill/>
          <a:ln>
            <a:noFill/>
          </a:ln>
        </p:spPr>
        <p:txBody>
          <a:bodyPr anchorCtr="0" anchor="t" bIns="0" lIns="0" spcFirstLastPara="1" rIns="0" wrap="square" tIns="0">
            <a:normAutofit/>
          </a:bodyPr>
          <a:lstStyle/>
          <a:p>
            <a:pPr indent="-233680" lvl="0" marL="233680" marR="0" rtl="0" algn="l">
              <a:lnSpc>
                <a:spcPct val="119000"/>
              </a:lnSpc>
              <a:spcBef>
                <a:spcPts val="0"/>
              </a:spcBef>
              <a:spcAft>
                <a:spcPts val="0"/>
              </a:spcAft>
              <a:buClr>
                <a:srgbClr val="4A5568"/>
              </a:buClr>
              <a:buSzPts val="1150"/>
              <a:buFont typeface="Calibri"/>
              <a:buAutoNum type="arabicPeriod"/>
            </a:pPr>
            <a:r>
              <a:rPr lang="en-US" sz="1150">
                <a:solidFill>
                  <a:srgbClr val="4A5568"/>
                </a:solidFill>
                <a:latin typeface="Inter Medium"/>
                <a:ea typeface="Inter Medium"/>
                <a:cs typeface="Inter Medium"/>
                <a:sym typeface="Inter Medium"/>
              </a:rPr>
              <a:t>Dr. Anand M. Baswade  - </a:t>
            </a:r>
            <a:r>
              <a:rPr lang="en-US" sz="1150">
                <a:solidFill>
                  <a:srgbClr val="4A5568"/>
                </a:solidFill>
                <a:latin typeface="Inter Medium"/>
                <a:ea typeface="Inter Medium"/>
                <a:cs typeface="Inter Medium"/>
                <a:sym typeface="Inter Medium"/>
              </a:rPr>
              <a:t>Assistant</a:t>
            </a:r>
            <a:r>
              <a:rPr lang="en-US" sz="1150">
                <a:solidFill>
                  <a:srgbClr val="4A5568"/>
                </a:solidFill>
                <a:latin typeface="Inter Medium"/>
                <a:ea typeface="Inter Medium"/>
                <a:cs typeface="Inter Medium"/>
                <a:sym typeface="Inter Medium"/>
              </a:rPr>
              <a:t> Professor, Department of CSE  </a:t>
            </a:r>
            <a:endParaRPr b="0" i="0" sz="1150" u="none" cap="none" strike="noStrike">
              <a:solidFill>
                <a:schemeClr val="dk1"/>
              </a:solidFill>
              <a:latin typeface="Calibri"/>
              <a:ea typeface="Calibri"/>
              <a:cs typeface="Calibri"/>
              <a:sym typeface="Calibri"/>
            </a:endParaRPr>
          </a:p>
          <a:p>
            <a:pPr indent="-233680" lvl="0" marL="233680" marR="0" rtl="0" algn="l">
              <a:lnSpc>
                <a:spcPct val="119000"/>
              </a:lnSpc>
              <a:spcBef>
                <a:spcPts val="0"/>
              </a:spcBef>
              <a:spcAft>
                <a:spcPts val="0"/>
              </a:spcAft>
              <a:buClr>
                <a:srgbClr val="4A5568"/>
              </a:buClr>
              <a:buSzPts val="1150"/>
              <a:buFont typeface="Calibri"/>
              <a:buAutoNum type="arabicPeriod"/>
            </a:pPr>
            <a:r>
              <a:rPr lang="en-US" sz="1150">
                <a:solidFill>
                  <a:srgbClr val="4A5568"/>
                </a:solidFill>
                <a:latin typeface="Inter Medium"/>
                <a:ea typeface="Inter Medium"/>
                <a:cs typeface="Inter Medium"/>
                <a:sym typeface="Inter Medium"/>
              </a:rPr>
              <a:t>Mr. Arpit Bhomia - BTech Final Year Student, Department of CSE</a:t>
            </a:r>
            <a:endParaRPr b="0" i="0" sz="1150" u="none" cap="none" strike="noStrike">
              <a:solidFill>
                <a:schemeClr val="dk1"/>
              </a:solidFill>
              <a:latin typeface="Calibri"/>
              <a:ea typeface="Calibri"/>
              <a:cs typeface="Calibri"/>
              <a:sym typeface="Calibri"/>
            </a:endParaRPr>
          </a:p>
          <a:p>
            <a:pPr indent="-233680" lvl="0" marL="233680" marR="0" rtl="0" algn="l">
              <a:lnSpc>
                <a:spcPct val="119000"/>
              </a:lnSpc>
              <a:spcBef>
                <a:spcPts val="0"/>
              </a:spcBef>
              <a:spcAft>
                <a:spcPts val="0"/>
              </a:spcAft>
              <a:buClr>
                <a:srgbClr val="4A5568"/>
              </a:buClr>
              <a:buSzPts val="1150"/>
              <a:buFont typeface="Calibri"/>
              <a:buAutoNum type="arabicPeriod"/>
            </a:pPr>
            <a:r>
              <a:rPr lang="en-US" sz="1150">
                <a:solidFill>
                  <a:srgbClr val="4A5568"/>
                </a:solidFill>
                <a:latin typeface="Inter Medium"/>
                <a:ea typeface="Inter Medium"/>
                <a:cs typeface="Inter Medium"/>
                <a:sym typeface="Inter Medium"/>
              </a:rPr>
              <a:t>Mr. Ashish Ranjan </a:t>
            </a:r>
            <a:r>
              <a:rPr lang="en-US" sz="1150">
                <a:solidFill>
                  <a:srgbClr val="4A5568"/>
                </a:solidFill>
                <a:latin typeface="Inter Medium"/>
                <a:ea typeface="Inter Medium"/>
                <a:cs typeface="Inter Medium"/>
                <a:sym typeface="Inter Medium"/>
              </a:rPr>
              <a:t>- BTech Final Year Student, Department of CSE</a:t>
            </a:r>
            <a:endParaRPr sz="1150">
              <a:solidFill>
                <a:srgbClr val="4A5568"/>
              </a:solidFill>
              <a:latin typeface="Inter Medium"/>
              <a:ea typeface="Inter Medium"/>
              <a:cs typeface="Inter Medium"/>
              <a:sym typeface="Inter Medium"/>
            </a:endParaRPr>
          </a:p>
          <a:p>
            <a:pPr indent="-233680" lvl="0" marL="233680" marR="0" rtl="0" algn="l">
              <a:lnSpc>
                <a:spcPct val="119000"/>
              </a:lnSpc>
              <a:spcBef>
                <a:spcPts val="0"/>
              </a:spcBef>
              <a:spcAft>
                <a:spcPts val="0"/>
              </a:spcAft>
              <a:buClr>
                <a:srgbClr val="4A5568"/>
              </a:buClr>
              <a:buSzPts val="1150"/>
              <a:buFont typeface="Calibri"/>
              <a:buAutoNum type="arabicPeriod"/>
            </a:pPr>
            <a:r>
              <a:rPr lang="en-US" sz="1150">
                <a:solidFill>
                  <a:srgbClr val="4A5568"/>
                </a:solidFill>
                <a:latin typeface="Inter Medium"/>
                <a:ea typeface="Inter Medium"/>
                <a:cs typeface="Inter Medium"/>
                <a:sym typeface="Inter Medium"/>
              </a:rPr>
              <a:t>Mr. Arpit Kumar </a:t>
            </a:r>
            <a:r>
              <a:rPr lang="en-US" sz="1150">
                <a:solidFill>
                  <a:srgbClr val="4A5568"/>
                </a:solidFill>
                <a:latin typeface="Inter Medium"/>
                <a:ea typeface="Inter Medium"/>
                <a:cs typeface="Inter Medium"/>
                <a:sym typeface="Inter Medium"/>
              </a:rPr>
              <a:t>- BTech Final Year Student, Department of CSE</a:t>
            </a:r>
            <a:endParaRPr sz="1150">
              <a:solidFill>
                <a:schemeClr val="dk1"/>
              </a:solidFill>
              <a:latin typeface="Calibri"/>
              <a:ea typeface="Calibri"/>
              <a:cs typeface="Calibri"/>
              <a:sym typeface="Calibri"/>
            </a:endParaRPr>
          </a:p>
          <a:p>
            <a:pPr indent="0" lvl="0" marL="457200" marR="0" rtl="0" algn="l">
              <a:lnSpc>
                <a:spcPct val="119000"/>
              </a:lnSpc>
              <a:spcBef>
                <a:spcPts val="0"/>
              </a:spcBef>
              <a:spcAft>
                <a:spcPts val="0"/>
              </a:spcAft>
              <a:buNone/>
            </a:pPr>
            <a:r>
              <a:t/>
            </a:r>
            <a:endParaRPr sz="1150">
              <a:solidFill>
                <a:srgbClr val="4A5568"/>
              </a:solidFill>
              <a:latin typeface="Inter Medium"/>
              <a:ea typeface="Inter Medium"/>
              <a:cs typeface="Inter Medium"/>
              <a:sym typeface="Inter Medium"/>
            </a:endParaRPr>
          </a:p>
          <a:p>
            <a:pPr indent="0" lvl="0" marL="457200" marR="0" rtl="0" algn="l">
              <a:lnSpc>
                <a:spcPct val="119000"/>
              </a:lnSpc>
              <a:spcBef>
                <a:spcPts val="0"/>
              </a:spcBef>
              <a:spcAft>
                <a:spcPts val="0"/>
              </a:spcAft>
              <a:buNone/>
            </a:pPr>
            <a:r>
              <a:t/>
            </a:r>
            <a:endParaRPr b="0" i="0" sz="1150" u="none" cap="none" strike="noStrike">
              <a:solidFill>
                <a:schemeClr val="dk1"/>
              </a:solidFill>
              <a:latin typeface="Calibri"/>
              <a:ea typeface="Calibri"/>
              <a:cs typeface="Calibri"/>
              <a:sym typeface="Calibri"/>
            </a:endParaRPr>
          </a:p>
        </p:txBody>
      </p:sp>
      <p:sp>
        <p:nvSpPr>
          <p:cNvPr id="48" name="Google Shape;48;p2"/>
          <p:cNvSpPr/>
          <p:nvPr/>
        </p:nvSpPr>
        <p:spPr>
          <a:xfrm>
            <a:off x="0" y="0"/>
            <a:ext cx="76200" cy="6858000"/>
          </a:xfrm>
          <a:prstGeom prst="rect">
            <a:avLst/>
          </a:prstGeom>
          <a:solidFill>
            <a:srgbClr val="1F6F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3"/>
          <p:cNvSpPr/>
          <p:nvPr/>
        </p:nvSpPr>
        <p:spPr>
          <a:xfrm>
            <a:off x="661475" y="936030"/>
            <a:ext cx="6904758" cy="50204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3150"/>
              <a:buFont typeface="DM Sans SemiBold"/>
              <a:buNone/>
            </a:pPr>
            <a:r>
              <a:rPr b="0" i="0" lang="en-US" sz="3150" u="none" cap="none" strike="noStrike">
                <a:solidFill>
                  <a:srgbClr val="14213D"/>
                </a:solidFill>
                <a:latin typeface="DM Sans SemiBold"/>
                <a:ea typeface="DM Sans SemiBold"/>
                <a:cs typeface="DM Sans SemiBold"/>
                <a:sym typeface="DM Sans SemiBold"/>
              </a:rPr>
              <a:t>Problem Statement &amp; Innovation</a:t>
            </a:r>
            <a:endParaRPr b="0" i="0" sz="3150" u="none" cap="none" strike="noStrike">
              <a:solidFill>
                <a:schemeClr val="dk1"/>
              </a:solidFill>
              <a:latin typeface="Calibri"/>
              <a:ea typeface="Calibri"/>
              <a:cs typeface="Calibri"/>
              <a:sym typeface="Calibri"/>
            </a:endParaRPr>
          </a:p>
        </p:txBody>
      </p:sp>
      <p:sp>
        <p:nvSpPr>
          <p:cNvPr id="55" name="Google Shape;55;p3"/>
          <p:cNvSpPr/>
          <p:nvPr/>
        </p:nvSpPr>
        <p:spPr>
          <a:xfrm>
            <a:off x="661475" y="1642864"/>
            <a:ext cx="11478330" cy="237728"/>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A5568"/>
              </a:buClr>
              <a:buSzPts val="1250"/>
              <a:buFont typeface="Inter Medium"/>
              <a:buNone/>
            </a:pPr>
            <a:r>
              <a:t/>
            </a:r>
            <a:endParaRPr b="0" i="0" sz="1250" u="none" cap="none" strike="noStrike">
              <a:solidFill>
                <a:schemeClr val="dk1"/>
              </a:solidFill>
              <a:latin typeface="Calibri"/>
              <a:ea typeface="Calibri"/>
              <a:cs typeface="Calibri"/>
              <a:sym typeface="Calibri"/>
            </a:endParaRPr>
          </a:p>
        </p:txBody>
      </p:sp>
      <p:sp>
        <p:nvSpPr>
          <p:cNvPr id="56" name="Google Shape;56;p3"/>
          <p:cNvSpPr/>
          <p:nvPr/>
        </p:nvSpPr>
        <p:spPr>
          <a:xfrm>
            <a:off x="661475" y="2085380"/>
            <a:ext cx="2617821" cy="25102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550"/>
              <a:buFont typeface="DM Sans SemiBold"/>
              <a:buNone/>
            </a:pPr>
            <a:r>
              <a:rPr b="0" i="0" lang="en-US" sz="1550" u="none" cap="none" strike="noStrike">
                <a:solidFill>
                  <a:srgbClr val="14213D"/>
                </a:solidFill>
                <a:latin typeface="DM Sans SemiBold"/>
                <a:ea typeface="DM Sans SemiBold"/>
                <a:cs typeface="DM Sans SemiBold"/>
                <a:sym typeface="DM Sans SemiBold"/>
              </a:rPr>
              <a:t>Problem Statement</a:t>
            </a:r>
            <a:endParaRPr b="0" i="0" sz="1550" u="none" cap="none" strike="noStrike">
              <a:solidFill>
                <a:schemeClr val="dk1"/>
              </a:solidFill>
              <a:latin typeface="Calibri"/>
              <a:ea typeface="Calibri"/>
              <a:cs typeface="Calibri"/>
              <a:sym typeface="Calibri"/>
            </a:endParaRPr>
          </a:p>
        </p:txBody>
      </p:sp>
      <p:sp>
        <p:nvSpPr>
          <p:cNvPr id="57" name="Google Shape;57;p3"/>
          <p:cNvSpPr/>
          <p:nvPr/>
        </p:nvSpPr>
        <p:spPr>
          <a:xfrm>
            <a:off x="661475" y="2391341"/>
            <a:ext cx="10868700" cy="1649400"/>
          </a:xfrm>
          <a:prstGeom prst="rect">
            <a:avLst/>
          </a:prstGeom>
          <a:noFill/>
          <a:ln>
            <a:noFill/>
          </a:ln>
        </p:spPr>
        <p:txBody>
          <a:bodyPr anchorCtr="0" anchor="t" bIns="0" lIns="0" spcFirstLastPara="1" rIns="0" wrap="square" tIns="0">
            <a:normAutofit/>
          </a:bodyPr>
          <a:lstStyle/>
          <a:p>
            <a:pPr indent="0" lvl="0" marL="0" marR="0" rtl="0" algn="just">
              <a:lnSpc>
                <a:spcPct val="123000"/>
              </a:lnSpc>
              <a:spcBef>
                <a:spcPts val="1200"/>
              </a:spcBef>
              <a:spcAft>
                <a:spcPts val="0"/>
              </a:spcAft>
              <a:buClr>
                <a:srgbClr val="4A5568"/>
              </a:buClr>
              <a:buSzPts val="1250"/>
              <a:buFont typeface="Inter Medium"/>
              <a:buNone/>
            </a:pPr>
            <a:r>
              <a:t/>
            </a:r>
            <a:endParaRPr sz="1250">
              <a:solidFill>
                <a:srgbClr val="4A5568"/>
              </a:solidFill>
              <a:latin typeface="Inter Medium"/>
              <a:ea typeface="Inter Medium"/>
              <a:cs typeface="Inter Medium"/>
              <a:sym typeface="Inter Medium"/>
            </a:endParaRPr>
          </a:p>
          <a:p>
            <a:pPr indent="0" lvl="0" marL="0" marR="0" rtl="0" algn="just">
              <a:lnSpc>
                <a:spcPct val="123000"/>
              </a:lnSpc>
              <a:spcBef>
                <a:spcPts val="1200"/>
              </a:spcBef>
              <a:spcAft>
                <a:spcPts val="0"/>
              </a:spcAft>
              <a:buClr>
                <a:srgbClr val="4A5568"/>
              </a:buClr>
              <a:buSzPts val="1250"/>
              <a:buFont typeface="Inter Medium"/>
              <a:buNone/>
            </a:pPr>
            <a:r>
              <a:rPr lang="en-US" sz="1250">
                <a:solidFill>
                  <a:srgbClr val="4A5568"/>
                </a:solidFill>
                <a:latin typeface="Inter Medium"/>
                <a:ea typeface="Inter Medium"/>
                <a:cs typeface="Inter Medium"/>
                <a:sym typeface="Inter Medium"/>
              </a:rPr>
              <a:t>Next-generation 6G/THz networks suffer severe signal degradation from dynamic physical blockages, such as shifting human crowds, which drastically reduce the effective transmission range. Traditional fixed access points cannot adapt to these rapid spatial changes, resulting in critical coverage dead zones and forcing expensive, inefficient over-provisioning that increases both capital costs and severe inter-node interference</a:t>
            </a:r>
            <a:endParaRPr b="0" i="0" sz="1250" u="none" cap="none" strike="noStrike">
              <a:solidFill>
                <a:schemeClr val="dk1"/>
              </a:solidFill>
              <a:latin typeface="Calibri"/>
              <a:ea typeface="Calibri"/>
              <a:cs typeface="Calibri"/>
              <a:sym typeface="Calibri"/>
            </a:endParaRPr>
          </a:p>
        </p:txBody>
      </p:sp>
      <p:sp>
        <p:nvSpPr>
          <p:cNvPr id="58" name="Google Shape;58;p3"/>
          <p:cNvSpPr/>
          <p:nvPr/>
        </p:nvSpPr>
        <p:spPr>
          <a:xfrm>
            <a:off x="661475" y="4395391"/>
            <a:ext cx="3163312" cy="25102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550"/>
              <a:buFont typeface="DM Sans SemiBold"/>
              <a:buNone/>
            </a:pPr>
            <a:r>
              <a:rPr b="0" i="0" lang="en-US" sz="1550" u="none" cap="none" strike="noStrike">
                <a:solidFill>
                  <a:srgbClr val="14213D"/>
                </a:solidFill>
                <a:latin typeface="DM Sans SemiBold"/>
                <a:ea typeface="DM Sans SemiBold"/>
                <a:cs typeface="DM Sans SemiBold"/>
                <a:sym typeface="DM Sans SemiBold"/>
              </a:rPr>
              <a:t>Your Solution &amp; Its Novelty</a:t>
            </a:r>
            <a:endParaRPr b="0" i="0" sz="1550" u="none" cap="none" strike="noStrike">
              <a:solidFill>
                <a:schemeClr val="dk1"/>
              </a:solidFill>
              <a:latin typeface="Calibri"/>
              <a:ea typeface="Calibri"/>
              <a:cs typeface="Calibri"/>
              <a:sym typeface="Calibri"/>
            </a:endParaRPr>
          </a:p>
        </p:txBody>
      </p:sp>
      <p:sp>
        <p:nvSpPr>
          <p:cNvPr id="59" name="Google Shape;59;p3"/>
          <p:cNvSpPr/>
          <p:nvPr/>
        </p:nvSpPr>
        <p:spPr>
          <a:xfrm>
            <a:off x="661475" y="4851202"/>
            <a:ext cx="10868745" cy="1411684"/>
          </a:xfrm>
          <a:prstGeom prst="rect">
            <a:avLst/>
          </a:prstGeom>
          <a:noFill/>
          <a:ln>
            <a:noFill/>
          </a:ln>
        </p:spPr>
        <p:txBody>
          <a:bodyPr anchorCtr="0" anchor="t" bIns="0" lIns="0" spcFirstLastPara="1" rIns="0" wrap="square" tIns="0">
            <a:noAutofit/>
          </a:bodyPr>
          <a:lstStyle/>
          <a:p>
            <a:pPr indent="0" lvl="0" marL="0" marR="0" rtl="0" algn="just">
              <a:lnSpc>
                <a:spcPct val="123000"/>
              </a:lnSpc>
              <a:spcBef>
                <a:spcPts val="1200"/>
              </a:spcBef>
              <a:spcAft>
                <a:spcPts val="0"/>
              </a:spcAft>
              <a:buClr>
                <a:srgbClr val="4A5568"/>
              </a:buClr>
              <a:buSzPts val="1250"/>
              <a:buFont typeface="Inter Medium"/>
              <a:buNone/>
            </a:pPr>
            <a:r>
              <a:rPr lang="en-US" sz="1250">
                <a:solidFill>
                  <a:srgbClr val="4A5568"/>
                </a:solidFill>
                <a:latin typeface="Inter Medium"/>
                <a:ea typeface="Inter Medium"/>
                <a:cs typeface="Inter Medium"/>
                <a:sym typeface="Inter Medium"/>
              </a:rPr>
              <a:t>We introduce a swarm-optimized network of autonomous, physically movable THz transmitting nodes that actively respond to real-time environmental sensing. The core novelty is our multi-tier hierarchical optimization: it prioritizes instant electronic beam and azimuth adaptation, triggering vertical or full 3D spatial repositioning only as a strict last resort, which sustains maximum density-weighted coverage while drastically minimizing mechanical latency and operational wear.</a:t>
            </a:r>
            <a:endParaRPr b="0" i="0" sz="1250" u="none" cap="none" strike="noStrike">
              <a:solidFill>
                <a:schemeClr val="dk1"/>
              </a:solidFill>
              <a:latin typeface="Calibri"/>
              <a:ea typeface="Calibri"/>
              <a:cs typeface="Calibri"/>
              <a:sym typeface="Calibri"/>
            </a:endParaRPr>
          </a:p>
        </p:txBody>
      </p:sp>
      <p:sp>
        <p:nvSpPr>
          <p:cNvPr id="60" name="Google Shape;60;p3"/>
          <p:cNvSpPr/>
          <p:nvPr/>
        </p:nvSpPr>
        <p:spPr>
          <a:xfrm>
            <a:off x="0" y="0"/>
            <a:ext cx="76200" cy="6858000"/>
          </a:xfrm>
          <a:prstGeom prst="rect">
            <a:avLst/>
          </a:prstGeom>
          <a:solidFill>
            <a:srgbClr val="1F6F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4"/>
          <p:cNvSpPr/>
          <p:nvPr/>
        </p:nvSpPr>
        <p:spPr>
          <a:xfrm>
            <a:off x="661475" y="811709"/>
            <a:ext cx="7927777" cy="38397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2400"/>
              <a:buFont typeface="DM Sans SemiBold"/>
              <a:buNone/>
            </a:pPr>
            <a:r>
              <a:rPr b="0" i="0" lang="en-US" sz="2400" u="none" cap="none" strike="noStrike">
                <a:solidFill>
                  <a:srgbClr val="14213D"/>
                </a:solidFill>
                <a:latin typeface="DM Sans SemiBold"/>
                <a:ea typeface="DM Sans SemiBold"/>
                <a:cs typeface="DM Sans SemiBold"/>
                <a:sym typeface="DM Sans SemiBold"/>
              </a:rPr>
              <a:t>Technical Feasibility &amp; Implementation Readiness</a:t>
            </a:r>
            <a:endParaRPr b="0" i="0" sz="2400" u="none" cap="none" strike="noStrike">
              <a:solidFill>
                <a:schemeClr val="dk1"/>
              </a:solidFill>
              <a:latin typeface="Calibri"/>
              <a:ea typeface="Calibri"/>
              <a:cs typeface="Calibri"/>
              <a:sym typeface="Calibri"/>
            </a:endParaRPr>
          </a:p>
        </p:txBody>
      </p:sp>
      <p:sp>
        <p:nvSpPr>
          <p:cNvPr id="67" name="Google Shape;67;p4"/>
          <p:cNvSpPr/>
          <p:nvPr/>
        </p:nvSpPr>
        <p:spPr>
          <a:xfrm>
            <a:off x="661475" y="1315442"/>
            <a:ext cx="11478330" cy="162123"/>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4A5568"/>
              </a:buClr>
              <a:buSzPts val="950"/>
              <a:buFont typeface="Inter Medium"/>
              <a:buNone/>
            </a:pPr>
            <a:r>
              <a:t/>
            </a:r>
            <a:endParaRPr b="0" i="0" sz="950" u="none" cap="none" strike="noStrike">
              <a:solidFill>
                <a:schemeClr val="dk1"/>
              </a:solidFill>
              <a:latin typeface="Calibri"/>
              <a:ea typeface="Calibri"/>
              <a:cs typeface="Calibri"/>
              <a:sym typeface="Calibri"/>
            </a:endParaRPr>
          </a:p>
        </p:txBody>
      </p:sp>
      <p:sp>
        <p:nvSpPr>
          <p:cNvPr id="68" name="Google Shape;68;p4"/>
          <p:cNvSpPr/>
          <p:nvPr/>
        </p:nvSpPr>
        <p:spPr>
          <a:xfrm>
            <a:off x="661475" y="1597323"/>
            <a:ext cx="2246157" cy="19198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200"/>
              <a:buFont typeface="DM Sans SemiBold"/>
              <a:buNone/>
            </a:pPr>
            <a:r>
              <a:rPr b="0" i="0" lang="en-US" sz="1200" u="none" cap="none" strike="noStrike">
                <a:solidFill>
                  <a:srgbClr val="14213D"/>
                </a:solidFill>
                <a:latin typeface="DM Sans SemiBold"/>
                <a:ea typeface="DM Sans SemiBold"/>
                <a:cs typeface="DM Sans SemiBold"/>
                <a:sym typeface="DM Sans SemiBold"/>
              </a:rPr>
              <a:t>Architecture &amp; Design</a:t>
            </a:r>
            <a:endParaRPr b="0" i="0" sz="1200" u="none" cap="none" strike="noStrike">
              <a:solidFill>
                <a:schemeClr val="dk1"/>
              </a:solidFill>
              <a:latin typeface="Calibri"/>
              <a:ea typeface="Calibri"/>
              <a:cs typeface="Calibri"/>
              <a:sym typeface="Calibri"/>
            </a:endParaRPr>
          </a:p>
        </p:txBody>
      </p:sp>
      <p:sp>
        <p:nvSpPr>
          <p:cNvPr id="69" name="Google Shape;69;p4"/>
          <p:cNvSpPr/>
          <p:nvPr/>
        </p:nvSpPr>
        <p:spPr>
          <a:xfrm>
            <a:off x="661475" y="1909101"/>
            <a:ext cx="10868700" cy="926700"/>
          </a:xfrm>
          <a:prstGeom prst="rect">
            <a:avLst/>
          </a:prstGeom>
          <a:noFill/>
          <a:ln>
            <a:noFill/>
          </a:ln>
        </p:spPr>
        <p:txBody>
          <a:bodyPr anchorCtr="0" anchor="t" bIns="0" lIns="0" spcFirstLastPara="1" rIns="0" wrap="square" tIns="0">
            <a:noAutofit/>
          </a:bodyPr>
          <a:lstStyle/>
          <a:p>
            <a:pPr indent="-298450" lvl="0" marL="457200" marR="0" rtl="0" algn="just">
              <a:lnSpc>
                <a:spcPct val="110000"/>
              </a:lnSpc>
              <a:spcBef>
                <a:spcPts val="70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Features a centralized controller coordinating a swarm of 3D-movable wireless nodes and real-time environmental sensors. </a:t>
            </a:r>
            <a:endParaRPr sz="1100">
              <a:solidFill>
                <a:srgbClr val="4A5568"/>
              </a:solidFill>
              <a:latin typeface="Inter Medium"/>
              <a:ea typeface="Inter Medium"/>
              <a:cs typeface="Inter Medium"/>
              <a:sym typeface="Inter Medium"/>
            </a:endParaRPr>
          </a:p>
          <a:p>
            <a:pPr indent="-298450" lvl="0" marL="457200" marR="0" rtl="0" algn="just">
              <a:lnSpc>
                <a:spcPct val="110000"/>
              </a:lnSpc>
              <a:spcBef>
                <a:spcPts val="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Employs an innovative 4-tier escalation workflow that strictly prioritizes rapid electronic beam tuning over physical movement. </a:t>
            </a:r>
            <a:endParaRPr sz="1100">
              <a:solidFill>
                <a:srgbClr val="4A5568"/>
              </a:solidFill>
              <a:latin typeface="Inter Medium"/>
              <a:ea typeface="Inter Medium"/>
              <a:cs typeface="Inter Medium"/>
              <a:sym typeface="Inter Medium"/>
            </a:endParaRPr>
          </a:p>
          <a:p>
            <a:pPr indent="-298450" lvl="0" marL="457200" marR="0" rtl="0" algn="just">
              <a:lnSpc>
                <a:spcPct val="110000"/>
              </a:lnSpc>
              <a:spcBef>
                <a:spcPts val="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Escalates to mechanical vertical or full horizontal repositioning only when target coverage thresholds cannot be met electronically. </a:t>
            </a:r>
            <a:endParaRPr sz="1100">
              <a:solidFill>
                <a:srgbClr val="4A5568"/>
              </a:solidFill>
              <a:latin typeface="Inter Medium"/>
              <a:ea typeface="Inter Medium"/>
              <a:cs typeface="Inter Medium"/>
              <a:sym typeface="Inter Medium"/>
            </a:endParaRPr>
          </a:p>
          <a:p>
            <a:pPr indent="-298450" lvl="0" marL="457200" marR="0" rtl="0" algn="just">
              <a:lnSpc>
                <a:spcPct val="110000"/>
              </a:lnSpc>
              <a:spcBef>
                <a:spcPts val="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Integrates linear sum assignment logic to ensure nodes take the shortest path, minimizing mechanical wear and latency. </a:t>
            </a:r>
            <a:endParaRPr sz="1100">
              <a:solidFill>
                <a:srgbClr val="4A5568"/>
              </a:solidFill>
              <a:latin typeface="Inter Medium"/>
              <a:ea typeface="Inter Medium"/>
              <a:cs typeface="Inter Medium"/>
              <a:sym typeface="Inter Medium"/>
            </a:endParaRPr>
          </a:p>
        </p:txBody>
      </p:sp>
      <p:sp>
        <p:nvSpPr>
          <p:cNvPr id="70" name="Google Shape;70;p4"/>
          <p:cNvSpPr/>
          <p:nvPr/>
        </p:nvSpPr>
        <p:spPr>
          <a:xfrm>
            <a:off x="661475" y="3077077"/>
            <a:ext cx="2555700" cy="192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200"/>
              <a:buFont typeface="DM Sans SemiBold"/>
              <a:buNone/>
            </a:pPr>
            <a:r>
              <a:rPr b="0" i="0" lang="en-US" sz="1200" u="none" cap="none" strike="noStrike">
                <a:solidFill>
                  <a:srgbClr val="14213D"/>
                </a:solidFill>
                <a:latin typeface="DM Sans SemiBold"/>
                <a:ea typeface="DM Sans SemiBold"/>
                <a:cs typeface="DM Sans SemiBold"/>
                <a:sym typeface="DM Sans SemiBold"/>
              </a:rPr>
              <a:t>Implementation Approach</a:t>
            </a:r>
            <a:endParaRPr b="0" i="0" sz="1200" u="none" cap="none" strike="noStrike">
              <a:solidFill>
                <a:schemeClr val="dk1"/>
              </a:solidFill>
              <a:latin typeface="Calibri"/>
              <a:ea typeface="Calibri"/>
              <a:cs typeface="Calibri"/>
              <a:sym typeface="Calibri"/>
            </a:endParaRPr>
          </a:p>
        </p:txBody>
      </p:sp>
      <p:sp>
        <p:nvSpPr>
          <p:cNvPr id="71" name="Google Shape;71;p4"/>
          <p:cNvSpPr/>
          <p:nvPr/>
        </p:nvSpPr>
        <p:spPr>
          <a:xfrm>
            <a:off x="661450" y="3395109"/>
            <a:ext cx="10868700" cy="1169700"/>
          </a:xfrm>
          <a:prstGeom prst="rect">
            <a:avLst/>
          </a:prstGeom>
          <a:noFill/>
          <a:ln>
            <a:noFill/>
          </a:ln>
        </p:spPr>
        <p:txBody>
          <a:bodyPr anchorCtr="0" anchor="t" bIns="0" lIns="0" spcFirstLastPara="1" rIns="0" wrap="square" tIns="0">
            <a:noAutofit/>
          </a:bodyPr>
          <a:lstStyle/>
          <a:p>
            <a:pPr indent="-298450" lvl="0" marL="457200" marR="0" rtl="0" algn="l">
              <a:lnSpc>
                <a:spcPct val="110000"/>
              </a:lnSpc>
              <a:spcBef>
                <a:spcPts val="0"/>
              </a:spcBef>
              <a:spcAft>
                <a:spcPts val="0"/>
              </a:spcAft>
              <a:buClr>
                <a:schemeClr val="dk1"/>
              </a:buClr>
              <a:buSzPts val="1100"/>
              <a:buFont typeface="Calibri"/>
              <a:buChar char="●"/>
            </a:pPr>
            <a:r>
              <a:rPr lang="en-US" sz="1100">
                <a:solidFill>
                  <a:srgbClr val="4A5568"/>
                </a:solidFill>
                <a:latin typeface="Inter Medium"/>
                <a:ea typeface="Inter Medium"/>
                <a:cs typeface="Inter Medium"/>
                <a:sym typeface="Inter Medium"/>
              </a:rPr>
              <a:t>Built a 3D simulation framework to accurately model room layouts, different wall materials, and how wireless signals travel through the environment. </a:t>
            </a:r>
            <a:endParaRPr sz="1100">
              <a:solidFill>
                <a:srgbClr val="4A5568"/>
              </a:solidFill>
              <a:latin typeface="Inter Medium"/>
              <a:ea typeface="Inter Medium"/>
              <a:cs typeface="Inter Medium"/>
              <a:sym typeface="Inter Medium"/>
            </a:endParaRPr>
          </a:p>
          <a:p>
            <a:pPr indent="-298450" lvl="0" marL="457200" marR="0" rtl="0" algn="l">
              <a:lnSpc>
                <a:spcPct val="110000"/>
              </a:lnSpc>
              <a:spcBef>
                <a:spcPts val="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Integrated dynamic grid mapping to track the real-time movement and density of human crowds, showing exactly where signal blockages occur. </a:t>
            </a:r>
            <a:endParaRPr sz="1100">
              <a:solidFill>
                <a:srgbClr val="4A5568"/>
              </a:solidFill>
              <a:latin typeface="Inter Medium"/>
              <a:ea typeface="Inter Medium"/>
              <a:cs typeface="Inter Medium"/>
              <a:sym typeface="Inter Medium"/>
            </a:endParaRPr>
          </a:p>
          <a:p>
            <a:pPr indent="-298450" lvl="0" marL="457200" marR="0" rtl="0" algn="l">
              <a:lnSpc>
                <a:spcPct val="110000"/>
              </a:lnSpc>
              <a:spcBef>
                <a:spcPts val="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Used a swarm intelligence algorithm to simultaneously calculate the absolute best signal coverage settings for the entire network of nodes. </a:t>
            </a:r>
            <a:endParaRPr sz="1100">
              <a:solidFill>
                <a:srgbClr val="4A5568"/>
              </a:solidFill>
              <a:latin typeface="Inter Medium"/>
              <a:ea typeface="Inter Medium"/>
              <a:cs typeface="Inter Medium"/>
              <a:sym typeface="Inter Medium"/>
            </a:endParaRPr>
          </a:p>
          <a:p>
            <a:pPr indent="-298450" lvl="0" marL="457200" marR="0" rtl="0" algn="l">
              <a:lnSpc>
                <a:spcPct val="110000"/>
              </a:lnSpc>
              <a:spcBef>
                <a:spcPts val="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Programmed a multi-step decision engine that strictly attempts to fix network dead zones electronically before forcing any physical hardware to move. </a:t>
            </a:r>
            <a:endParaRPr sz="1100">
              <a:solidFill>
                <a:srgbClr val="4A5568"/>
              </a:solidFill>
              <a:latin typeface="Inter Medium"/>
              <a:ea typeface="Inter Medium"/>
              <a:cs typeface="Inter Medium"/>
              <a:sym typeface="Inter Medium"/>
            </a:endParaRPr>
          </a:p>
          <a:p>
            <a:pPr indent="-298450" lvl="0" marL="457200" marR="0" rtl="0" algn="l">
              <a:lnSpc>
                <a:spcPct val="110000"/>
              </a:lnSpc>
              <a:spcBef>
                <a:spcPts val="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Applied the Hungarian algorithm to assign new coordinates, ensuring the physical nodes take the shortest possible route to save time and energy. </a:t>
            </a:r>
            <a:endParaRPr sz="1100">
              <a:solidFill>
                <a:srgbClr val="4A5568"/>
              </a:solidFill>
              <a:latin typeface="Inter Medium"/>
              <a:ea typeface="Inter Medium"/>
              <a:cs typeface="Inter Medium"/>
              <a:sym typeface="Inter Medium"/>
            </a:endParaRPr>
          </a:p>
          <a:p>
            <a:pPr indent="-298450" lvl="0" marL="457200" marR="0" rtl="0" algn="l">
              <a:lnSpc>
                <a:spcPct val="110000"/>
              </a:lnSpc>
              <a:spcBef>
                <a:spcPts val="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Validated the entire setup through rigorous testing, proving the software can compute and adapt to sudden environmental changes in just a fraction of a second. </a:t>
            </a:r>
            <a:endParaRPr sz="1100">
              <a:solidFill>
                <a:srgbClr val="4A5568"/>
              </a:solidFill>
              <a:latin typeface="Inter Medium"/>
              <a:ea typeface="Inter Medium"/>
              <a:cs typeface="Inter Medium"/>
              <a:sym typeface="Inter Medium"/>
            </a:endParaRPr>
          </a:p>
        </p:txBody>
      </p:sp>
      <p:sp>
        <p:nvSpPr>
          <p:cNvPr id="72" name="Google Shape;72;p4"/>
          <p:cNvSpPr/>
          <p:nvPr/>
        </p:nvSpPr>
        <p:spPr>
          <a:xfrm>
            <a:off x="661475" y="4919655"/>
            <a:ext cx="2145300" cy="192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200"/>
              <a:buFont typeface="DM Sans SemiBold"/>
              <a:buNone/>
            </a:pPr>
            <a:r>
              <a:rPr b="0" i="0" lang="en-US" sz="1200" u="none" cap="none" strike="noStrike">
                <a:solidFill>
                  <a:srgbClr val="14213D"/>
                </a:solidFill>
                <a:latin typeface="DM Sans SemiBold"/>
                <a:ea typeface="DM Sans SemiBold"/>
                <a:cs typeface="DM Sans SemiBold"/>
                <a:sym typeface="DM Sans SemiBold"/>
              </a:rPr>
              <a:t>Prototype Maturity</a:t>
            </a:r>
            <a:endParaRPr b="0" i="0" sz="1200" u="none" cap="none" strike="noStrike">
              <a:solidFill>
                <a:schemeClr val="dk1"/>
              </a:solidFill>
              <a:latin typeface="Calibri"/>
              <a:ea typeface="Calibri"/>
              <a:cs typeface="Calibri"/>
              <a:sym typeface="Calibri"/>
            </a:endParaRPr>
          </a:p>
        </p:txBody>
      </p:sp>
      <p:sp>
        <p:nvSpPr>
          <p:cNvPr id="73" name="Google Shape;73;p4"/>
          <p:cNvSpPr/>
          <p:nvPr/>
        </p:nvSpPr>
        <p:spPr>
          <a:xfrm>
            <a:off x="661475" y="5249976"/>
            <a:ext cx="10868700" cy="1169700"/>
          </a:xfrm>
          <a:prstGeom prst="rect">
            <a:avLst/>
          </a:prstGeom>
          <a:noFill/>
          <a:ln>
            <a:noFill/>
          </a:ln>
        </p:spPr>
        <p:txBody>
          <a:bodyPr anchorCtr="0" anchor="t" bIns="0" lIns="0" spcFirstLastPara="1" rIns="0" wrap="square" tIns="0">
            <a:noAutofit/>
          </a:bodyPr>
          <a:lstStyle/>
          <a:p>
            <a:pPr indent="-298450" lvl="0" marL="457200" marR="0" rtl="0" algn="l">
              <a:lnSpc>
                <a:spcPct val="110000"/>
              </a:lnSpc>
              <a:spcBef>
                <a:spcPts val="700"/>
              </a:spcBef>
              <a:spcAft>
                <a:spcPts val="0"/>
              </a:spcAft>
              <a:buClr>
                <a:schemeClr val="dk1"/>
              </a:buClr>
              <a:buSzPts val="1100"/>
              <a:buFont typeface="Calibri"/>
              <a:buChar char="●"/>
            </a:pPr>
            <a:r>
              <a:rPr lang="en-US" sz="1100">
                <a:solidFill>
                  <a:srgbClr val="4A5568"/>
                </a:solidFill>
                <a:latin typeface="Inter Medium"/>
                <a:ea typeface="Inter Medium"/>
                <a:cs typeface="Inter Medium"/>
                <a:sym typeface="Inter Medium"/>
              </a:rPr>
              <a:t>Successfully executed the core multi-tier optimization algorithm to validate the autonomous movement logic and coverage improvements. </a:t>
            </a:r>
            <a:endParaRPr sz="1100">
              <a:solidFill>
                <a:srgbClr val="4A5568"/>
              </a:solidFill>
              <a:latin typeface="Inter Medium"/>
              <a:ea typeface="Inter Medium"/>
              <a:cs typeface="Inter Medium"/>
              <a:sym typeface="Inter Medium"/>
            </a:endParaRPr>
          </a:p>
          <a:p>
            <a:pPr indent="-298450" lvl="0" marL="457200" rtl="0" algn="l">
              <a:lnSpc>
                <a:spcPct val="110000"/>
              </a:lnSpc>
              <a:spcBef>
                <a:spcPts val="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Developed an interactive dashboard prototype to serve as a live demo, visually tracking the real-time node repositioning and network recovery.</a:t>
            </a:r>
            <a:endParaRPr sz="1100">
              <a:solidFill>
                <a:srgbClr val="4A5568"/>
              </a:solidFill>
              <a:latin typeface="Inter Medium"/>
              <a:ea typeface="Inter Medium"/>
              <a:cs typeface="Inter Medium"/>
              <a:sym typeface="Inter Medium"/>
            </a:endParaRPr>
          </a:p>
          <a:p>
            <a:pPr indent="-298450" lvl="0" marL="457200" rtl="0" algn="l">
              <a:lnSpc>
                <a:spcPct val="110000"/>
              </a:lnSpc>
              <a:spcBef>
                <a:spcPts val="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Modeled and ran the simulation specifically using the architectural layout of the IIT Bhilai ED1 building to test against a realistic environment.</a:t>
            </a:r>
            <a:endParaRPr sz="1100">
              <a:solidFill>
                <a:srgbClr val="4A5568"/>
              </a:solidFill>
              <a:latin typeface="Inter Medium"/>
              <a:ea typeface="Inter Medium"/>
              <a:cs typeface="Inter Medium"/>
              <a:sym typeface="Inter Medium"/>
            </a:endParaRPr>
          </a:p>
          <a:p>
            <a:pPr indent="-298450" lvl="0" marL="457200" marR="0" rtl="0" algn="l">
              <a:lnSpc>
                <a:spcPct val="110000"/>
              </a:lnSpc>
              <a:spcBef>
                <a:spcPts val="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Validated the functional prototype within precise 32 m × 20 m × 3 m spatial dimensions to accurately account for physical heights and structural constraints. </a:t>
            </a:r>
            <a:endParaRPr sz="1100">
              <a:solidFill>
                <a:srgbClr val="4A5568"/>
              </a:solidFill>
              <a:latin typeface="Inter Medium"/>
              <a:ea typeface="Inter Medium"/>
              <a:cs typeface="Inter Medium"/>
              <a:sym typeface="Inter Medium"/>
            </a:endParaRPr>
          </a:p>
        </p:txBody>
      </p:sp>
      <p:sp>
        <p:nvSpPr>
          <p:cNvPr id="74" name="Google Shape;74;p4"/>
          <p:cNvSpPr/>
          <p:nvPr/>
        </p:nvSpPr>
        <p:spPr>
          <a:xfrm>
            <a:off x="0" y="0"/>
            <a:ext cx="76200" cy="6858000"/>
          </a:xfrm>
          <a:prstGeom prst="rect">
            <a:avLst/>
          </a:prstGeom>
          <a:solidFill>
            <a:srgbClr val="1F6F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5"/>
          <p:cNvSpPr/>
          <p:nvPr/>
        </p:nvSpPr>
        <p:spPr>
          <a:xfrm>
            <a:off x="661475" y="746224"/>
            <a:ext cx="6800581" cy="36591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2300"/>
              <a:buFont typeface="DM Sans SemiBold"/>
              <a:buNone/>
            </a:pPr>
            <a:r>
              <a:rPr b="0" i="0" lang="en-US" sz="2300" u="none" cap="none" strike="noStrike">
                <a:solidFill>
                  <a:srgbClr val="14213D"/>
                </a:solidFill>
                <a:latin typeface="DM Sans SemiBold"/>
                <a:ea typeface="DM Sans SemiBold"/>
                <a:cs typeface="DM Sans SemiBold"/>
                <a:sym typeface="DM Sans SemiBold"/>
              </a:rPr>
              <a:t>Market Readiness &amp; Commercialisation Plan</a:t>
            </a:r>
            <a:endParaRPr b="0" i="0" sz="2300" u="none" cap="none" strike="noStrike">
              <a:solidFill>
                <a:schemeClr val="dk1"/>
              </a:solidFill>
              <a:latin typeface="Calibri"/>
              <a:ea typeface="Calibri"/>
              <a:cs typeface="Calibri"/>
              <a:sym typeface="Calibri"/>
            </a:endParaRPr>
          </a:p>
        </p:txBody>
      </p:sp>
      <p:sp>
        <p:nvSpPr>
          <p:cNvPr id="81" name="Google Shape;81;p5"/>
          <p:cNvSpPr/>
          <p:nvPr/>
        </p:nvSpPr>
        <p:spPr>
          <a:xfrm>
            <a:off x="661475" y="1220887"/>
            <a:ext cx="11478330" cy="151606"/>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A5568"/>
              </a:buClr>
              <a:buSzPts val="900"/>
              <a:buFont typeface="Inter Medium"/>
              <a:buNone/>
            </a:pPr>
            <a:r>
              <a:t/>
            </a:r>
            <a:endParaRPr b="0" i="0" sz="900" u="none" cap="none" strike="noStrike">
              <a:solidFill>
                <a:schemeClr val="dk1"/>
              </a:solidFill>
              <a:latin typeface="Calibri"/>
              <a:ea typeface="Calibri"/>
              <a:cs typeface="Calibri"/>
              <a:sym typeface="Calibri"/>
            </a:endParaRPr>
          </a:p>
        </p:txBody>
      </p:sp>
      <p:sp>
        <p:nvSpPr>
          <p:cNvPr id="82" name="Google Shape;82;p5"/>
          <p:cNvSpPr/>
          <p:nvPr/>
        </p:nvSpPr>
        <p:spPr>
          <a:xfrm>
            <a:off x="661475" y="1481237"/>
            <a:ext cx="2073322" cy="18286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150"/>
              <a:buFont typeface="DM Sans SemiBold"/>
              <a:buNone/>
            </a:pPr>
            <a:r>
              <a:rPr b="0" i="0" lang="en-US" sz="1150" u="none" cap="none" strike="noStrike">
                <a:solidFill>
                  <a:srgbClr val="14213D"/>
                </a:solidFill>
                <a:latin typeface="DM Sans SemiBold"/>
                <a:ea typeface="DM Sans SemiBold"/>
                <a:cs typeface="DM Sans SemiBold"/>
                <a:sym typeface="DM Sans SemiBold"/>
              </a:rPr>
              <a:t>Target Market</a:t>
            </a:r>
            <a:endParaRPr b="0" i="0" sz="1150" u="none" cap="none" strike="noStrike">
              <a:solidFill>
                <a:schemeClr val="dk1"/>
              </a:solidFill>
              <a:latin typeface="Calibri"/>
              <a:ea typeface="Calibri"/>
              <a:cs typeface="Calibri"/>
              <a:sym typeface="Calibri"/>
            </a:endParaRPr>
          </a:p>
        </p:txBody>
      </p:sp>
      <p:sp>
        <p:nvSpPr>
          <p:cNvPr id="83" name="Google Shape;83;p5"/>
          <p:cNvSpPr/>
          <p:nvPr/>
        </p:nvSpPr>
        <p:spPr>
          <a:xfrm>
            <a:off x="661475" y="1772841"/>
            <a:ext cx="10868745" cy="839589"/>
          </a:xfrm>
          <a:prstGeom prst="rect">
            <a:avLst/>
          </a:prstGeom>
          <a:noFill/>
          <a:ln>
            <a:noFill/>
          </a:ln>
        </p:spPr>
        <p:txBody>
          <a:bodyPr anchorCtr="0" anchor="t" bIns="0" lIns="0" spcFirstLastPara="1" rIns="0" wrap="square" tIns="0">
            <a:noAutofit/>
          </a:bodyPr>
          <a:lstStyle/>
          <a:p>
            <a:pPr indent="-279400" lvl="0" marL="457200" marR="0" rtl="0" algn="l">
              <a:lnSpc>
                <a:spcPct val="108000"/>
              </a:lnSpc>
              <a:spcBef>
                <a:spcPts val="0"/>
              </a:spcBef>
              <a:spcAft>
                <a:spcPts val="0"/>
              </a:spcAft>
              <a:buClr>
                <a:schemeClr val="dk1"/>
              </a:buClr>
              <a:buSzPts val="800"/>
              <a:buFont typeface="Calibri"/>
              <a:buChar char="●"/>
            </a:pPr>
            <a:r>
              <a:rPr b="1" lang="en-US" sz="1000">
                <a:solidFill>
                  <a:schemeClr val="dk1"/>
                </a:solidFill>
              </a:rPr>
              <a:t>Telecom &amp; Infrastructure Providers:</a:t>
            </a:r>
            <a:r>
              <a:rPr lang="en-US" sz="1000">
                <a:solidFill>
                  <a:schemeClr val="dk1"/>
                </a:solidFill>
              </a:rPr>
              <a:t> Network operators (e.g., AT&amp;T, Jio) and infrastructure vendors (e.g., Ericsson, Nokia, Qualcomm) deploying next-gen 6G/THz networks.</a:t>
            </a:r>
            <a:endParaRPr sz="1000">
              <a:solidFill>
                <a:schemeClr val="dk1"/>
              </a:solidFill>
            </a:endParaRPr>
          </a:p>
          <a:p>
            <a:pPr indent="-285750" lvl="0" marL="457200" marR="0" rtl="0" algn="l">
              <a:lnSpc>
                <a:spcPct val="108000"/>
              </a:lnSpc>
              <a:spcBef>
                <a:spcPts val="0"/>
              </a:spcBef>
              <a:spcAft>
                <a:spcPts val="0"/>
              </a:spcAft>
              <a:buClr>
                <a:schemeClr val="dk1"/>
              </a:buClr>
              <a:buSzPts val="900"/>
              <a:buChar char="●"/>
            </a:pPr>
            <a:r>
              <a:rPr b="1" lang="en-US" sz="1000">
                <a:solidFill>
                  <a:schemeClr val="dk1"/>
                </a:solidFill>
              </a:rPr>
              <a:t>Enterprise &amp; Smart Facilities:</a:t>
            </a:r>
            <a:r>
              <a:rPr lang="en-US" sz="1000">
                <a:solidFill>
                  <a:schemeClr val="dk1"/>
                </a:solidFill>
              </a:rPr>
              <a:t> Industry 4.0 automated manufacturing plants, smart building integrators, and dense venues like stadiums or airports. </a:t>
            </a:r>
            <a:endParaRPr sz="1000">
              <a:solidFill>
                <a:schemeClr val="dk1"/>
              </a:solidFill>
            </a:endParaRPr>
          </a:p>
          <a:p>
            <a:pPr indent="-292100" lvl="0" marL="457200" marR="0" rtl="0" algn="l">
              <a:lnSpc>
                <a:spcPct val="108000"/>
              </a:lnSpc>
              <a:spcBef>
                <a:spcPts val="0"/>
              </a:spcBef>
              <a:spcAft>
                <a:spcPts val="0"/>
              </a:spcAft>
              <a:buClr>
                <a:schemeClr val="dk1"/>
              </a:buClr>
              <a:buSzPts val="1000"/>
              <a:buChar char="●"/>
            </a:pPr>
            <a:r>
              <a:rPr b="1" lang="en-US" sz="1000">
                <a:solidFill>
                  <a:schemeClr val="dk1"/>
                </a:solidFill>
              </a:rPr>
              <a:t>Immersive Tech Venues:</a:t>
            </a:r>
            <a:r>
              <a:rPr lang="en-US" sz="1000">
                <a:solidFill>
                  <a:schemeClr val="dk1"/>
                </a:solidFill>
              </a:rPr>
              <a:t> AR/VR gaming arenas and data centers requiring ultra-high-bandwidth, zero-drop connectivity. </a:t>
            </a:r>
            <a:endParaRPr sz="1000">
              <a:solidFill>
                <a:schemeClr val="dk1"/>
              </a:solidFill>
            </a:endParaRPr>
          </a:p>
        </p:txBody>
      </p:sp>
      <p:sp>
        <p:nvSpPr>
          <p:cNvPr id="84" name="Google Shape;84;p5"/>
          <p:cNvSpPr/>
          <p:nvPr/>
        </p:nvSpPr>
        <p:spPr>
          <a:xfrm>
            <a:off x="661488" y="2648211"/>
            <a:ext cx="2073300" cy="183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150"/>
              <a:buFont typeface="DM Sans SemiBold"/>
              <a:buNone/>
            </a:pPr>
            <a:r>
              <a:rPr b="0" i="0" lang="en-US" sz="1150" u="none" cap="none" strike="noStrike">
                <a:solidFill>
                  <a:srgbClr val="14213D"/>
                </a:solidFill>
                <a:latin typeface="DM Sans SemiBold"/>
                <a:ea typeface="DM Sans SemiBold"/>
                <a:cs typeface="DM Sans SemiBold"/>
                <a:sym typeface="DM Sans SemiBold"/>
              </a:rPr>
              <a:t>Industry Alignment</a:t>
            </a:r>
            <a:endParaRPr b="0" i="0" sz="1150" u="none" cap="none" strike="noStrike">
              <a:solidFill>
                <a:schemeClr val="dk1"/>
              </a:solidFill>
              <a:latin typeface="Calibri"/>
              <a:ea typeface="Calibri"/>
              <a:cs typeface="Calibri"/>
              <a:sym typeface="Calibri"/>
            </a:endParaRPr>
          </a:p>
        </p:txBody>
      </p:sp>
      <p:sp>
        <p:nvSpPr>
          <p:cNvPr id="85" name="Google Shape;85;p5"/>
          <p:cNvSpPr/>
          <p:nvPr/>
        </p:nvSpPr>
        <p:spPr>
          <a:xfrm>
            <a:off x="661475" y="3012777"/>
            <a:ext cx="10868745" cy="839589"/>
          </a:xfrm>
          <a:prstGeom prst="rect">
            <a:avLst/>
          </a:prstGeom>
          <a:noFill/>
          <a:ln>
            <a:noFill/>
          </a:ln>
        </p:spPr>
        <p:txBody>
          <a:bodyPr anchorCtr="0" anchor="t" bIns="0" lIns="0" spcFirstLastPara="1" rIns="0" wrap="square" tIns="0">
            <a:noAutofit/>
          </a:bodyPr>
          <a:lstStyle/>
          <a:p>
            <a:pPr indent="-285750" lvl="0" marL="457200" marR="0" rtl="0" algn="l">
              <a:lnSpc>
                <a:spcPct val="108000"/>
              </a:lnSpc>
              <a:spcBef>
                <a:spcPts val="0"/>
              </a:spcBef>
              <a:spcAft>
                <a:spcPts val="0"/>
              </a:spcAft>
              <a:buClr>
                <a:schemeClr val="dk1"/>
              </a:buClr>
              <a:buSzPts val="900"/>
              <a:buFont typeface="Calibri"/>
              <a:buChar char="●"/>
            </a:pPr>
            <a:r>
              <a:rPr b="1" lang="en-US" sz="1000">
                <a:solidFill>
                  <a:schemeClr val="dk1"/>
                </a:solidFill>
              </a:rPr>
              <a:t>CAPEX/OPEX Optimization:</a:t>
            </a:r>
            <a:r>
              <a:rPr lang="en-US" sz="1000">
                <a:solidFill>
                  <a:schemeClr val="dk1"/>
                </a:solidFill>
              </a:rPr>
              <a:t> Directly addresses the telecom industry's mandate to reduce costs by eliminating the need for dense, over-provisioned fixed-node deployments. </a:t>
            </a:r>
            <a:endParaRPr sz="1000">
              <a:solidFill>
                <a:schemeClr val="dk1"/>
              </a:solidFill>
            </a:endParaRPr>
          </a:p>
          <a:p>
            <a:pPr indent="-292100" lvl="0" marL="457200" marR="0" rtl="0" algn="l">
              <a:lnSpc>
                <a:spcPct val="108000"/>
              </a:lnSpc>
              <a:spcBef>
                <a:spcPts val="0"/>
              </a:spcBef>
              <a:spcAft>
                <a:spcPts val="0"/>
              </a:spcAft>
              <a:buClr>
                <a:schemeClr val="dk1"/>
              </a:buClr>
              <a:buSzPts val="1000"/>
              <a:buChar char="●"/>
            </a:pPr>
            <a:r>
              <a:rPr b="1" lang="en-US" sz="1000">
                <a:solidFill>
                  <a:schemeClr val="dk1"/>
                </a:solidFill>
              </a:rPr>
              <a:t>Standards Compliance:</a:t>
            </a:r>
            <a:r>
              <a:rPr lang="en-US" sz="1000">
                <a:solidFill>
                  <a:schemeClr val="dk1"/>
                </a:solidFill>
              </a:rPr>
              <a:t> Aligns with upcoming 3GPP and IEEE structural requirements for utilizing millimeter-wave and Terahertz spectrums efficiently. </a:t>
            </a:r>
            <a:endParaRPr sz="1000">
              <a:solidFill>
                <a:schemeClr val="dk1"/>
              </a:solidFill>
            </a:endParaRPr>
          </a:p>
          <a:p>
            <a:pPr indent="-292100" lvl="0" marL="457200" marR="0" rtl="0" algn="l">
              <a:lnSpc>
                <a:spcPct val="108000"/>
              </a:lnSpc>
              <a:spcBef>
                <a:spcPts val="0"/>
              </a:spcBef>
              <a:spcAft>
                <a:spcPts val="0"/>
              </a:spcAft>
              <a:buClr>
                <a:schemeClr val="dk1"/>
              </a:buClr>
              <a:buSzPts val="1000"/>
              <a:buChar char="●"/>
            </a:pPr>
            <a:r>
              <a:rPr b="1" lang="en-US" sz="1000">
                <a:solidFill>
                  <a:schemeClr val="dk1"/>
                </a:solidFill>
              </a:rPr>
              <a:t>Industry 4.0 Synergy:</a:t>
            </a:r>
            <a:r>
              <a:rPr lang="en-US" sz="1000">
                <a:solidFill>
                  <a:schemeClr val="dk1"/>
                </a:solidFill>
              </a:rPr>
              <a:t> Fulfills the strict requirements for Ultra-Reliable Low-Latency Communication (URLLC) in environments disrupted by moving machinery and shift changes. </a:t>
            </a:r>
            <a:endParaRPr sz="1000">
              <a:solidFill>
                <a:schemeClr val="dk1"/>
              </a:solidFill>
            </a:endParaRPr>
          </a:p>
        </p:txBody>
      </p:sp>
      <p:sp>
        <p:nvSpPr>
          <p:cNvPr id="86" name="Google Shape;86;p5"/>
          <p:cNvSpPr/>
          <p:nvPr/>
        </p:nvSpPr>
        <p:spPr>
          <a:xfrm>
            <a:off x="661475" y="3815310"/>
            <a:ext cx="2259300" cy="183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150"/>
              <a:buFont typeface="DM Sans SemiBold"/>
              <a:buNone/>
            </a:pPr>
            <a:r>
              <a:rPr b="0" i="0" lang="en-US" sz="1150" u="none" cap="none" strike="noStrike">
                <a:solidFill>
                  <a:srgbClr val="14213D"/>
                </a:solidFill>
                <a:latin typeface="DM Sans SemiBold"/>
                <a:ea typeface="DM Sans SemiBold"/>
                <a:cs typeface="DM Sans SemiBold"/>
                <a:sym typeface="DM Sans SemiBold"/>
              </a:rPr>
              <a:t>Go-to-Market Strategy</a:t>
            </a:r>
            <a:endParaRPr b="0" i="0" sz="1150" u="none" cap="none" strike="noStrike">
              <a:solidFill>
                <a:schemeClr val="dk1"/>
              </a:solidFill>
              <a:latin typeface="Calibri"/>
              <a:ea typeface="Calibri"/>
              <a:cs typeface="Calibri"/>
              <a:sym typeface="Calibri"/>
            </a:endParaRPr>
          </a:p>
        </p:txBody>
      </p:sp>
      <p:sp>
        <p:nvSpPr>
          <p:cNvPr id="87" name="Google Shape;87;p5"/>
          <p:cNvSpPr/>
          <p:nvPr/>
        </p:nvSpPr>
        <p:spPr>
          <a:xfrm>
            <a:off x="661475" y="4106914"/>
            <a:ext cx="10868700" cy="839700"/>
          </a:xfrm>
          <a:prstGeom prst="rect">
            <a:avLst/>
          </a:prstGeom>
          <a:noFill/>
          <a:ln>
            <a:noFill/>
          </a:ln>
        </p:spPr>
        <p:txBody>
          <a:bodyPr anchorCtr="0" anchor="t" bIns="0" lIns="0" spcFirstLastPara="1" rIns="0" wrap="square" tIns="0">
            <a:noAutofit/>
          </a:bodyPr>
          <a:lstStyle/>
          <a:p>
            <a:pPr indent="-279400" lvl="0" marL="457200" rtl="0" algn="l">
              <a:lnSpc>
                <a:spcPct val="108000"/>
              </a:lnSpc>
              <a:spcBef>
                <a:spcPts val="0"/>
              </a:spcBef>
              <a:spcAft>
                <a:spcPts val="0"/>
              </a:spcAft>
              <a:buClr>
                <a:schemeClr val="dk1"/>
              </a:buClr>
              <a:buSzPts val="800"/>
              <a:buFont typeface="Calibri"/>
              <a:buChar char="●"/>
            </a:pPr>
            <a:r>
              <a:rPr b="1" lang="en-US" sz="1000">
                <a:solidFill>
                  <a:schemeClr val="dk1"/>
                </a:solidFill>
              </a:rPr>
              <a:t>B2B Licensing Model:</a:t>
            </a:r>
            <a:r>
              <a:rPr lang="en-US" sz="1000">
                <a:solidFill>
                  <a:schemeClr val="dk1"/>
                </a:solidFill>
              </a:rPr>
              <a:t> License the central controller's multi-tier optimization algorithm and software dashboard as a direct overlay to established telecom and enterprise networking vendors like Cisco.</a:t>
            </a:r>
            <a:endParaRPr sz="1000">
              <a:solidFill>
                <a:schemeClr val="dk1"/>
              </a:solidFill>
            </a:endParaRPr>
          </a:p>
          <a:p>
            <a:pPr indent="-279400" lvl="0" marL="457200" marR="0" rtl="0" algn="l">
              <a:lnSpc>
                <a:spcPct val="108000"/>
              </a:lnSpc>
              <a:spcBef>
                <a:spcPts val="0"/>
              </a:spcBef>
              <a:spcAft>
                <a:spcPts val="0"/>
              </a:spcAft>
              <a:buClr>
                <a:srgbClr val="4A5568"/>
              </a:buClr>
              <a:buSzPts val="800"/>
              <a:buFont typeface="Inter Medium"/>
              <a:buChar char="●"/>
            </a:pPr>
            <a:r>
              <a:rPr b="1" lang="en-US" sz="1000">
                <a:solidFill>
                  <a:schemeClr val="dk1"/>
                </a:solidFill>
              </a:rPr>
              <a:t>Targeted Proof of Concepts (PoCs):</a:t>
            </a:r>
            <a:r>
              <a:rPr lang="en-US" sz="1000">
                <a:solidFill>
                  <a:schemeClr val="dk1"/>
                </a:solidFill>
              </a:rPr>
              <a:t> Launch initial pilot programs in highly controlled, dynamic environments—such as automated warehouses or dense enterprise IT campuses—to prove ROI. </a:t>
            </a:r>
            <a:endParaRPr sz="1000">
              <a:solidFill>
                <a:schemeClr val="dk1"/>
              </a:solidFill>
            </a:endParaRPr>
          </a:p>
          <a:p>
            <a:pPr indent="-292100" lvl="0" marL="457200" marR="0" rtl="0" algn="l">
              <a:lnSpc>
                <a:spcPct val="108000"/>
              </a:lnSpc>
              <a:spcBef>
                <a:spcPts val="0"/>
              </a:spcBef>
              <a:spcAft>
                <a:spcPts val="0"/>
              </a:spcAft>
              <a:buClr>
                <a:schemeClr val="dk1"/>
              </a:buClr>
              <a:buSzPts val="1000"/>
              <a:buChar char="●"/>
            </a:pPr>
            <a:r>
              <a:rPr b="1" lang="en-US" sz="1000">
                <a:solidFill>
                  <a:schemeClr val="dk1"/>
                </a:solidFill>
              </a:rPr>
              <a:t>API Integration:</a:t>
            </a:r>
            <a:r>
              <a:rPr lang="en-US" sz="1000">
                <a:solidFill>
                  <a:schemeClr val="dk1"/>
                </a:solidFill>
              </a:rPr>
              <a:t> Package the swarm intelligence logic as an API capable of integrating with existing building management systems (BMS) and environmental sensor grids. </a:t>
            </a:r>
            <a:endParaRPr sz="1000">
              <a:solidFill>
                <a:schemeClr val="dk1"/>
              </a:solidFill>
            </a:endParaRPr>
          </a:p>
        </p:txBody>
      </p:sp>
      <p:sp>
        <p:nvSpPr>
          <p:cNvPr id="88" name="Google Shape;88;p5"/>
          <p:cNvSpPr/>
          <p:nvPr/>
        </p:nvSpPr>
        <p:spPr>
          <a:xfrm>
            <a:off x="661475" y="5201047"/>
            <a:ext cx="2073322" cy="18286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150"/>
              <a:buFont typeface="DM Sans SemiBold"/>
              <a:buNone/>
            </a:pPr>
            <a:r>
              <a:rPr b="0" i="0" lang="en-US" sz="1150" u="none" cap="none" strike="noStrike">
                <a:solidFill>
                  <a:srgbClr val="14213D"/>
                </a:solidFill>
                <a:latin typeface="DM Sans SemiBold"/>
                <a:ea typeface="DM Sans SemiBold"/>
                <a:cs typeface="DM Sans SemiBold"/>
                <a:sym typeface="DM Sans SemiBold"/>
              </a:rPr>
              <a:t>Adoption Roadmap</a:t>
            </a:r>
            <a:endParaRPr b="0" i="0" sz="1150" u="none" cap="none" strike="noStrike">
              <a:solidFill>
                <a:schemeClr val="dk1"/>
              </a:solidFill>
              <a:latin typeface="Calibri"/>
              <a:ea typeface="Calibri"/>
              <a:cs typeface="Calibri"/>
              <a:sym typeface="Calibri"/>
            </a:endParaRPr>
          </a:p>
        </p:txBody>
      </p:sp>
      <p:sp>
        <p:nvSpPr>
          <p:cNvPr id="89" name="Google Shape;89;p5"/>
          <p:cNvSpPr/>
          <p:nvPr/>
        </p:nvSpPr>
        <p:spPr>
          <a:xfrm>
            <a:off x="661475" y="5492651"/>
            <a:ext cx="10868745" cy="839589"/>
          </a:xfrm>
          <a:prstGeom prst="rect">
            <a:avLst/>
          </a:prstGeom>
          <a:noFill/>
          <a:ln>
            <a:noFill/>
          </a:ln>
        </p:spPr>
        <p:txBody>
          <a:bodyPr anchorCtr="0" anchor="t" bIns="0" lIns="0" spcFirstLastPara="1" rIns="0" wrap="square" tIns="0">
            <a:noAutofit/>
          </a:bodyPr>
          <a:lstStyle/>
          <a:p>
            <a:pPr indent="-279400" lvl="0" marL="457200" marR="0" rtl="0" algn="l">
              <a:lnSpc>
                <a:spcPct val="108000"/>
              </a:lnSpc>
              <a:spcBef>
                <a:spcPts val="0"/>
              </a:spcBef>
              <a:spcAft>
                <a:spcPts val="0"/>
              </a:spcAft>
              <a:buClr>
                <a:schemeClr val="dk1"/>
              </a:buClr>
              <a:buSzPts val="800"/>
              <a:buFont typeface="Calibri"/>
              <a:buChar char="●"/>
            </a:pPr>
            <a:r>
              <a:rPr b="1" lang="en-US" sz="1000">
                <a:solidFill>
                  <a:schemeClr val="dk1"/>
                </a:solidFill>
              </a:rPr>
              <a:t>Low Integration Friction:</a:t>
            </a:r>
            <a:r>
              <a:rPr lang="en-US" sz="1000">
                <a:solidFill>
                  <a:schemeClr val="dk1"/>
                </a:solidFill>
              </a:rPr>
              <a:t> The 4-tier system prioritizes electronic beam tuning (Tiers 1 and 2), meaning it can optimize existing electronic hardware before requiring mechanical (Tiers 3 and 4) upgrades. </a:t>
            </a:r>
            <a:endParaRPr sz="1000">
              <a:solidFill>
                <a:schemeClr val="dk1"/>
              </a:solidFill>
            </a:endParaRPr>
          </a:p>
          <a:p>
            <a:pPr indent="-292100" lvl="0" marL="457200" marR="0" rtl="0" algn="l">
              <a:lnSpc>
                <a:spcPct val="108000"/>
              </a:lnSpc>
              <a:spcBef>
                <a:spcPts val="0"/>
              </a:spcBef>
              <a:spcAft>
                <a:spcPts val="0"/>
              </a:spcAft>
              <a:buClr>
                <a:schemeClr val="dk1"/>
              </a:buClr>
              <a:buSzPts val="1000"/>
              <a:buChar char="●"/>
            </a:pPr>
            <a:r>
              <a:rPr b="1" lang="en-US" sz="1000">
                <a:solidFill>
                  <a:schemeClr val="dk1"/>
                </a:solidFill>
              </a:rPr>
              <a:t>Demonstrable ROI &amp; Efficiency:</a:t>
            </a:r>
            <a:r>
              <a:rPr lang="en-US" sz="1000">
                <a:solidFill>
                  <a:schemeClr val="dk1"/>
                </a:solidFill>
              </a:rPr>
              <a:t> High adoption likelihood driven by minimized mechanical wear, reduced energy expenditure, and a drastic drop in required hardware units. </a:t>
            </a:r>
            <a:endParaRPr sz="1000">
              <a:solidFill>
                <a:schemeClr val="dk1"/>
              </a:solidFill>
            </a:endParaRPr>
          </a:p>
          <a:p>
            <a:pPr indent="-292100" lvl="0" marL="457200" marR="0" rtl="0" algn="l">
              <a:lnSpc>
                <a:spcPct val="108000"/>
              </a:lnSpc>
              <a:spcBef>
                <a:spcPts val="0"/>
              </a:spcBef>
              <a:spcAft>
                <a:spcPts val="0"/>
              </a:spcAft>
              <a:buClr>
                <a:schemeClr val="dk1"/>
              </a:buClr>
              <a:buSzPts val="1000"/>
              <a:buChar char="●"/>
            </a:pPr>
            <a:r>
              <a:rPr b="1" lang="en-US" sz="1000">
                <a:solidFill>
                  <a:schemeClr val="dk1"/>
                </a:solidFill>
              </a:rPr>
              <a:t>Seamless Scalability:</a:t>
            </a:r>
            <a:r>
              <a:rPr lang="en-US" sz="1000">
                <a:solidFill>
                  <a:schemeClr val="dk1"/>
                </a:solidFill>
              </a:rPr>
              <a:t> The centralized swarm architecture scales effortlessly from a single smart room to a complex, multi-floor deployment without requiring total system replacements. </a:t>
            </a:r>
            <a:endParaRPr sz="1000">
              <a:solidFill>
                <a:schemeClr val="dk1"/>
              </a:solidFill>
            </a:endParaRPr>
          </a:p>
        </p:txBody>
      </p:sp>
      <p:sp>
        <p:nvSpPr>
          <p:cNvPr id="90" name="Google Shape;90;p5"/>
          <p:cNvSpPr/>
          <p:nvPr/>
        </p:nvSpPr>
        <p:spPr>
          <a:xfrm>
            <a:off x="0" y="0"/>
            <a:ext cx="76200" cy="6858000"/>
          </a:xfrm>
          <a:prstGeom prst="rect">
            <a:avLst/>
          </a:prstGeom>
          <a:solidFill>
            <a:srgbClr val="1F6F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6"/>
          <p:cNvSpPr/>
          <p:nvPr/>
        </p:nvSpPr>
        <p:spPr>
          <a:xfrm>
            <a:off x="661475" y="746026"/>
            <a:ext cx="4714757" cy="33595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2100"/>
              <a:buFont typeface="DM Sans SemiBold"/>
              <a:buNone/>
            </a:pPr>
            <a:r>
              <a:rPr b="0" i="0" lang="en-US" sz="2100" u="none" cap="none" strike="noStrike">
                <a:solidFill>
                  <a:srgbClr val="14213D"/>
                </a:solidFill>
                <a:latin typeface="DM Sans SemiBold"/>
                <a:ea typeface="DM Sans SemiBold"/>
                <a:cs typeface="DM Sans SemiBold"/>
                <a:sym typeface="DM Sans SemiBold"/>
              </a:rPr>
              <a:t>Economic Viability &amp; Scalability</a:t>
            </a:r>
            <a:endParaRPr b="0" i="0" sz="2100" u="none" cap="none" strike="noStrike">
              <a:solidFill>
                <a:schemeClr val="dk1"/>
              </a:solidFill>
              <a:latin typeface="Calibri"/>
              <a:ea typeface="Calibri"/>
              <a:cs typeface="Calibri"/>
              <a:sym typeface="Calibri"/>
            </a:endParaRPr>
          </a:p>
        </p:txBody>
      </p:sp>
      <p:sp>
        <p:nvSpPr>
          <p:cNvPr id="97" name="Google Shape;97;p6"/>
          <p:cNvSpPr/>
          <p:nvPr/>
        </p:nvSpPr>
        <p:spPr>
          <a:xfrm>
            <a:off x="661475" y="1173659"/>
            <a:ext cx="11478330" cy="13493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A5568"/>
              </a:buClr>
              <a:buSzPts val="800"/>
              <a:buFont typeface="Inter Medium"/>
              <a:buNone/>
            </a:pPr>
            <a:r>
              <a:t/>
            </a:r>
            <a:endParaRPr b="0" i="0" sz="800" u="none" cap="none" strike="noStrike">
              <a:solidFill>
                <a:schemeClr val="dk1"/>
              </a:solidFill>
              <a:latin typeface="Calibri"/>
              <a:ea typeface="Calibri"/>
              <a:cs typeface="Calibri"/>
              <a:sym typeface="Calibri"/>
            </a:endParaRPr>
          </a:p>
        </p:txBody>
      </p:sp>
      <p:sp>
        <p:nvSpPr>
          <p:cNvPr id="98" name="Google Shape;98;p6"/>
          <p:cNvSpPr/>
          <p:nvPr/>
        </p:nvSpPr>
        <p:spPr>
          <a:xfrm>
            <a:off x="661475" y="1400274"/>
            <a:ext cx="1953370" cy="16787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050"/>
              <a:buFont typeface="DM Sans SemiBold"/>
              <a:buNone/>
            </a:pPr>
            <a:r>
              <a:rPr b="0" i="0" lang="en-US" sz="1050" u="none" cap="none" strike="noStrike">
                <a:solidFill>
                  <a:srgbClr val="14213D"/>
                </a:solidFill>
                <a:latin typeface="DM Sans SemiBold"/>
                <a:ea typeface="DM Sans SemiBold"/>
                <a:cs typeface="DM Sans SemiBold"/>
                <a:sym typeface="DM Sans SemiBold"/>
              </a:rPr>
              <a:t>Economic Viability</a:t>
            </a:r>
            <a:endParaRPr b="0" i="0" sz="1050" u="none" cap="none" strike="noStrike">
              <a:solidFill>
                <a:schemeClr val="dk1"/>
              </a:solidFill>
              <a:latin typeface="Calibri"/>
              <a:ea typeface="Calibri"/>
              <a:cs typeface="Calibri"/>
              <a:sym typeface="Calibri"/>
            </a:endParaRPr>
          </a:p>
        </p:txBody>
      </p:sp>
      <p:sp>
        <p:nvSpPr>
          <p:cNvPr id="99" name="Google Shape;99;p6"/>
          <p:cNvSpPr/>
          <p:nvPr/>
        </p:nvSpPr>
        <p:spPr>
          <a:xfrm>
            <a:off x="661475" y="1789605"/>
            <a:ext cx="10868700" cy="1153500"/>
          </a:xfrm>
          <a:prstGeom prst="rect">
            <a:avLst/>
          </a:prstGeom>
          <a:noFill/>
          <a:ln>
            <a:noFill/>
          </a:ln>
        </p:spPr>
        <p:txBody>
          <a:bodyPr anchorCtr="0" anchor="t" bIns="0" lIns="0" spcFirstLastPara="1" rIns="0" wrap="square" tIns="0">
            <a:noAutofit/>
          </a:bodyPr>
          <a:lstStyle/>
          <a:p>
            <a:pPr indent="-298450" lvl="0" marL="457200" marR="0" rtl="0" algn="l">
              <a:lnSpc>
                <a:spcPct val="105000"/>
              </a:lnSpc>
              <a:spcBef>
                <a:spcPts val="500"/>
              </a:spcBef>
              <a:spcAft>
                <a:spcPts val="0"/>
              </a:spcAft>
              <a:buClr>
                <a:schemeClr val="dk1"/>
              </a:buClr>
              <a:buSzPts val="1100"/>
              <a:buFont typeface="Calibri"/>
              <a:buChar char="●"/>
            </a:pPr>
            <a:r>
              <a:rPr lang="en-US" sz="1100">
                <a:solidFill>
                  <a:srgbClr val="4A5568"/>
                </a:solidFill>
                <a:latin typeface="Inter Medium"/>
                <a:ea typeface="Inter Medium"/>
                <a:cs typeface="Inter Medium"/>
                <a:sym typeface="Inter Medium"/>
              </a:rPr>
              <a:t>Generates primary revenue by licensing our pending patent's multi-tier optimization algorithm directly to major telecom infrastructure equipment vendors. </a:t>
            </a:r>
            <a:endParaRPr sz="1100">
              <a:solidFill>
                <a:srgbClr val="4A5568"/>
              </a:solidFill>
              <a:latin typeface="Inter Medium"/>
              <a:ea typeface="Inter Medium"/>
              <a:cs typeface="Inter Medium"/>
              <a:sym typeface="Inter Medium"/>
            </a:endParaRPr>
          </a:p>
          <a:p>
            <a:pPr indent="-317500" lvl="0" marL="457200" rtl="0" algn="l">
              <a:lnSpc>
                <a:spcPct val="115000"/>
              </a:lnSpc>
              <a:spcBef>
                <a:spcPts val="0"/>
              </a:spcBef>
              <a:spcAft>
                <a:spcPts val="0"/>
              </a:spcAft>
              <a:buClr>
                <a:schemeClr val="dk1"/>
              </a:buClr>
              <a:buSzPts val="1400"/>
              <a:buChar char="●"/>
            </a:pPr>
            <a:r>
              <a:rPr lang="en-US" sz="1100">
                <a:solidFill>
                  <a:srgbClr val="4A5568"/>
                </a:solidFill>
                <a:latin typeface="Inter Medium"/>
                <a:ea typeface="Inter Medium"/>
                <a:cs typeface="Inter Medium"/>
                <a:sym typeface="Inter Medium"/>
              </a:rPr>
              <a:t>Sustains financial growth through structured licensing agreements, minimizing our operational costs while maximizing software-driven profit margins.</a:t>
            </a:r>
            <a:endParaRPr sz="1100">
              <a:solidFill>
                <a:srgbClr val="4A5568"/>
              </a:solidFill>
              <a:latin typeface="Inter Medium"/>
              <a:ea typeface="Inter Medium"/>
              <a:cs typeface="Inter Medium"/>
              <a:sym typeface="Inter Medium"/>
            </a:endParaRPr>
          </a:p>
          <a:p>
            <a:pPr indent="0" lvl="0" marL="457200" marR="0" rtl="0" algn="l">
              <a:lnSpc>
                <a:spcPct val="105000"/>
              </a:lnSpc>
              <a:spcBef>
                <a:spcPts val="1200"/>
              </a:spcBef>
              <a:spcAft>
                <a:spcPts val="0"/>
              </a:spcAft>
              <a:buNone/>
            </a:pPr>
            <a:r>
              <a:t/>
            </a:r>
            <a:endParaRPr sz="1100">
              <a:solidFill>
                <a:srgbClr val="4A5568"/>
              </a:solidFill>
              <a:latin typeface="Inter Medium"/>
              <a:ea typeface="Inter Medium"/>
              <a:cs typeface="Inter Medium"/>
              <a:sym typeface="Inter Medium"/>
            </a:endParaRPr>
          </a:p>
        </p:txBody>
      </p:sp>
      <p:sp>
        <p:nvSpPr>
          <p:cNvPr id="100" name="Google Shape;100;p6"/>
          <p:cNvSpPr/>
          <p:nvPr/>
        </p:nvSpPr>
        <p:spPr>
          <a:xfrm>
            <a:off x="661475" y="2599390"/>
            <a:ext cx="2107500" cy="168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050"/>
              <a:buFont typeface="DM Sans SemiBold"/>
              <a:buNone/>
            </a:pPr>
            <a:r>
              <a:rPr b="0" i="0" lang="en-US" sz="1050" u="none" cap="none" strike="noStrike">
                <a:solidFill>
                  <a:srgbClr val="14213D"/>
                </a:solidFill>
                <a:latin typeface="DM Sans SemiBold"/>
                <a:ea typeface="DM Sans SemiBold"/>
                <a:cs typeface="DM Sans SemiBold"/>
                <a:sym typeface="DM Sans SemiBold"/>
              </a:rPr>
              <a:t>Cost-Benefit Summary</a:t>
            </a:r>
            <a:endParaRPr b="0" i="0" sz="1050" u="none" cap="none" strike="noStrike">
              <a:solidFill>
                <a:schemeClr val="dk1"/>
              </a:solidFill>
              <a:latin typeface="Calibri"/>
              <a:ea typeface="Calibri"/>
              <a:cs typeface="Calibri"/>
              <a:sym typeface="Calibri"/>
            </a:endParaRPr>
          </a:p>
        </p:txBody>
      </p:sp>
      <p:sp>
        <p:nvSpPr>
          <p:cNvPr id="101" name="Google Shape;101;p6"/>
          <p:cNvSpPr/>
          <p:nvPr/>
        </p:nvSpPr>
        <p:spPr>
          <a:xfrm>
            <a:off x="661450" y="2921396"/>
            <a:ext cx="10868700" cy="542400"/>
          </a:xfrm>
          <a:prstGeom prst="rect">
            <a:avLst/>
          </a:prstGeom>
          <a:noFill/>
          <a:ln>
            <a:noFill/>
          </a:ln>
        </p:spPr>
        <p:txBody>
          <a:bodyPr anchorCtr="0" anchor="t" bIns="0" lIns="0" spcFirstLastPara="1" rIns="0" wrap="square" tIns="0">
            <a:noAutofit/>
          </a:bodyPr>
          <a:lstStyle/>
          <a:p>
            <a:pPr indent="-298450" lvl="0" marL="457200" marR="0" rtl="0" algn="l">
              <a:lnSpc>
                <a:spcPct val="105000"/>
              </a:lnSpc>
              <a:spcBef>
                <a:spcPts val="50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Network operators save massive capital expenditure (CAPEX) by eliminating the need to buy and install dense, over-provisioned fixed nodes. </a:t>
            </a:r>
            <a:endParaRPr sz="1100">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Char char="●"/>
            </a:pPr>
            <a:r>
              <a:rPr lang="en-US" sz="1100">
                <a:solidFill>
                  <a:schemeClr val="dk1"/>
                </a:solidFill>
                <a:latin typeface="Calibri"/>
                <a:ea typeface="Calibri"/>
                <a:cs typeface="Calibri"/>
                <a:sym typeface="Calibri"/>
              </a:rPr>
              <a:t>We achieve high profitability by providing the licensed software intelligence that makes their hardware investments radically more efficient.</a:t>
            </a:r>
            <a:endParaRPr sz="1100">
              <a:solidFill>
                <a:schemeClr val="dk1"/>
              </a:solidFill>
              <a:latin typeface="Calibri"/>
              <a:ea typeface="Calibri"/>
              <a:cs typeface="Calibri"/>
              <a:sym typeface="Calibri"/>
            </a:endParaRPr>
          </a:p>
        </p:txBody>
      </p:sp>
      <p:sp>
        <p:nvSpPr>
          <p:cNvPr id="102" name="Google Shape;102;p6"/>
          <p:cNvSpPr/>
          <p:nvPr/>
        </p:nvSpPr>
        <p:spPr>
          <a:xfrm>
            <a:off x="661475" y="3798491"/>
            <a:ext cx="1953370" cy="16787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050"/>
              <a:buFont typeface="DM Sans SemiBold"/>
              <a:buNone/>
            </a:pPr>
            <a:r>
              <a:rPr b="0" i="0" lang="en-US" sz="1050" u="none" cap="none" strike="noStrike">
                <a:solidFill>
                  <a:srgbClr val="14213D"/>
                </a:solidFill>
                <a:latin typeface="DM Sans SemiBold"/>
                <a:ea typeface="DM Sans SemiBold"/>
                <a:cs typeface="DM Sans SemiBold"/>
                <a:sym typeface="DM Sans SemiBold"/>
              </a:rPr>
              <a:t>Scalability Plan</a:t>
            </a:r>
            <a:endParaRPr b="0" i="0" sz="1050" u="none" cap="none" strike="noStrike">
              <a:solidFill>
                <a:schemeClr val="dk1"/>
              </a:solidFill>
              <a:latin typeface="Calibri"/>
              <a:ea typeface="Calibri"/>
              <a:cs typeface="Calibri"/>
              <a:sym typeface="Calibri"/>
            </a:endParaRPr>
          </a:p>
        </p:txBody>
      </p:sp>
      <p:sp>
        <p:nvSpPr>
          <p:cNvPr id="103" name="Google Shape;103;p6"/>
          <p:cNvSpPr/>
          <p:nvPr/>
        </p:nvSpPr>
        <p:spPr>
          <a:xfrm>
            <a:off x="661475" y="4058047"/>
            <a:ext cx="10868745" cy="1153418"/>
          </a:xfrm>
          <a:prstGeom prst="rect">
            <a:avLst/>
          </a:prstGeom>
          <a:noFill/>
          <a:ln>
            <a:noFill/>
          </a:ln>
        </p:spPr>
        <p:txBody>
          <a:bodyPr anchorCtr="0" anchor="t" bIns="0" lIns="0" spcFirstLastPara="1" rIns="0" wrap="square" tIns="0">
            <a:noAutofit/>
          </a:bodyPr>
          <a:lstStyle/>
          <a:p>
            <a:pPr indent="-298450" lvl="0" marL="457200" marR="0" rtl="0" algn="l">
              <a:lnSpc>
                <a:spcPct val="105000"/>
              </a:lnSpc>
              <a:spcBef>
                <a:spcPts val="500"/>
              </a:spcBef>
              <a:spcAft>
                <a:spcPts val="0"/>
              </a:spcAft>
              <a:buClr>
                <a:schemeClr val="dk1"/>
              </a:buClr>
              <a:buSzPts val="1100"/>
              <a:buFont typeface="Calibri"/>
              <a:buChar char="●"/>
            </a:pPr>
            <a:r>
              <a:rPr lang="en-US" sz="1100">
                <a:solidFill>
                  <a:srgbClr val="4A5568"/>
                </a:solidFill>
                <a:latin typeface="Inter Medium"/>
                <a:ea typeface="Inter Medium"/>
                <a:cs typeface="Inter Medium"/>
                <a:sym typeface="Inter Medium"/>
              </a:rPr>
              <a:t>The core multi-tier algorithm is entirely hardware-agnostic, enabling seamless technical scaling across sub-6 GHz, millimeter-wave (24–100 GHz), and Terahertz (100 GHz–10 THz) networks. </a:t>
            </a:r>
            <a:endParaRPr sz="1100">
              <a:solidFill>
                <a:srgbClr val="4A5568"/>
              </a:solidFill>
              <a:latin typeface="Inter Medium"/>
              <a:ea typeface="Inter Medium"/>
              <a:cs typeface="Inter Medium"/>
              <a:sym typeface="Inter Medium"/>
            </a:endParaRPr>
          </a:p>
          <a:p>
            <a:pPr indent="-298450" lvl="0" marL="457200" marR="0" rtl="0" algn="l">
              <a:lnSpc>
                <a:spcPct val="105000"/>
              </a:lnSpc>
              <a:spcBef>
                <a:spcPts val="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Geographical and market scaling is achieved instantly without physical manufacturing bottlenecks by deploying our software API directly into the ecosystems of global infrastructure vendors. </a:t>
            </a:r>
            <a:endParaRPr sz="1100">
              <a:solidFill>
                <a:srgbClr val="4A5568"/>
              </a:solidFill>
              <a:latin typeface="Inter Medium"/>
              <a:ea typeface="Inter Medium"/>
              <a:cs typeface="Inter Medium"/>
              <a:sym typeface="Inter Medium"/>
            </a:endParaRPr>
          </a:p>
          <a:p>
            <a:pPr indent="-298450" lvl="0" marL="457200" marR="0" rtl="0" algn="l">
              <a:lnSpc>
                <a:spcPct val="105000"/>
              </a:lnSpc>
              <a:spcBef>
                <a:spcPts val="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The centralized controller architecture scales fluidly from single-room smart factory deployments to massive, multi-zone indoor and outdoor enterprise networks. </a:t>
            </a:r>
            <a:endParaRPr sz="1100">
              <a:solidFill>
                <a:srgbClr val="4A5568"/>
              </a:solidFill>
              <a:latin typeface="Inter Medium"/>
              <a:ea typeface="Inter Medium"/>
              <a:cs typeface="Inter Medium"/>
              <a:sym typeface="Inter Medium"/>
            </a:endParaRPr>
          </a:p>
        </p:txBody>
      </p:sp>
      <p:sp>
        <p:nvSpPr>
          <p:cNvPr id="104" name="Google Shape;104;p6"/>
          <p:cNvSpPr/>
          <p:nvPr/>
        </p:nvSpPr>
        <p:spPr>
          <a:xfrm>
            <a:off x="661475" y="5303143"/>
            <a:ext cx="2494099" cy="16787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050"/>
              <a:buFont typeface="DM Sans SemiBold"/>
              <a:buNone/>
            </a:pPr>
            <a:r>
              <a:rPr b="0" i="0" lang="en-US" sz="1050" u="none" cap="none" strike="noStrike">
                <a:solidFill>
                  <a:srgbClr val="14213D"/>
                </a:solidFill>
                <a:latin typeface="DM Sans SemiBold"/>
                <a:ea typeface="DM Sans SemiBold"/>
                <a:cs typeface="DM Sans SemiBold"/>
                <a:sym typeface="DM Sans SemiBold"/>
              </a:rPr>
              <a:t>Long-Term Business Success</a:t>
            </a:r>
            <a:endParaRPr b="0" i="0" sz="1050" u="none" cap="none" strike="noStrike">
              <a:solidFill>
                <a:schemeClr val="dk1"/>
              </a:solidFill>
              <a:latin typeface="Calibri"/>
              <a:ea typeface="Calibri"/>
              <a:cs typeface="Calibri"/>
              <a:sym typeface="Calibri"/>
            </a:endParaRPr>
          </a:p>
        </p:txBody>
      </p:sp>
      <p:sp>
        <p:nvSpPr>
          <p:cNvPr id="105" name="Google Shape;105;p6"/>
          <p:cNvSpPr/>
          <p:nvPr/>
        </p:nvSpPr>
        <p:spPr>
          <a:xfrm>
            <a:off x="661475" y="5562699"/>
            <a:ext cx="10868745" cy="746026"/>
          </a:xfrm>
          <a:prstGeom prst="rect">
            <a:avLst/>
          </a:prstGeom>
          <a:noFill/>
          <a:ln>
            <a:noFill/>
          </a:ln>
        </p:spPr>
        <p:txBody>
          <a:bodyPr anchorCtr="0" anchor="t" bIns="0" lIns="0" spcFirstLastPara="1" rIns="0" wrap="square" tIns="0">
            <a:noAutofit/>
          </a:bodyPr>
          <a:lstStyle/>
          <a:p>
            <a:pPr indent="-298450" lvl="0" marL="457200" marR="0" rtl="0" algn="l">
              <a:lnSpc>
                <a:spcPct val="105000"/>
              </a:lnSpc>
              <a:spcBef>
                <a:spcPts val="500"/>
              </a:spcBef>
              <a:spcAft>
                <a:spcPts val="0"/>
              </a:spcAft>
              <a:buClr>
                <a:schemeClr val="dk1"/>
              </a:buClr>
              <a:buSzPts val="1100"/>
              <a:buFont typeface="Calibri"/>
              <a:buChar char="●"/>
            </a:pPr>
            <a:r>
              <a:rPr lang="en-US" sz="1100">
                <a:solidFill>
                  <a:srgbClr val="4A5568"/>
                </a:solidFill>
                <a:latin typeface="Inter Medium"/>
                <a:ea typeface="Inter Medium"/>
                <a:cs typeface="Inter Medium"/>
                <a:sym typeface="Inter Medium"/>
              </a:rPr>
              <a:t>Our primary revenue engine is built on high-margin, non-exclusive patent licensing agreements targeting major telecom equipment manufacturers (such as Ericsson, Nokia, and Qualcomm). </a:t>
            </a:r>
            <a:endParaRPr sz="1100">
              <a:solidFill>
                <a:srgbClr val="4A5568"/>
              </a:solidFill>
              <a:latin typeface="Inter Medium"/>
              <a:ea typeface="Inter Medium"/>
              <a:cs typeface="Inter Medium"/>
              <a:sym typeface="Inter Medium"/>
            </a:endParaRPr>
          </a:p>
          <a:p>
            <a:pPr indent="-298450" lvl="0" marL="457200" marR="0" rtl="0" algn="l">
              <a:lnSpc>
                <a:spcPct val="105000"/>
              </a:lnSpc>
              <a:spcBef>
                <a:spcPts val="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Long-term market dominance and operational success are legally secured through a continuous strategy of expanding our intellectual property portfolio around advanced, AI-driven spatial algorithms. </a:t>
            </a:r>
            <a:endParaRPr sz="1100">
              <a:solidFill>
                <a:srgbClr val="4A5568"/>
              </a:solidFill>
              <a:latin typeface="Inter Medium"/>
              <a:ea typeface="Inter Medium"/>
              <a:cs typeface="Inter Medium"/>
              <a:sym typeface="Inter Medium"/>
            </a:endParaRPr>
          </a:p>
        </p:txBody>
      </p:sp>
      <p:sp>
        <p:nvSpPr>
          <p:cNvPr id="106" name="Google Shape;106;p6"/>
          <p:cNvSpPr/>
          <p:nvPr/>
        </p:nvSpPr>
        <p:spPr>
          <a:xfrm>
            <a:off x="0" y="0"/>
            <a:ext cx="76200" cy="6858000"/>
          </a:xfrm>
          <a:prstGeom prst="rect">
            <a:avLst/>
          </a:prstGeom>
          <a:solidFill>
            <a:srgbClr val="1F6F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p:nvPr/>
        </p:nvSpPr>
        <p:spPr>
          <a:xfrm>
            <a:off x="661475" y="790178"/>
            <a:ext cx="4945733" cy="3598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2250"/>
              <a:buFont typeface="DM Sans SemiBold"/>
              <a:buNone/>
            </a:pPr>
            <a:r>
              <a:rPr b="0" i="0" lang="en-US" sz="2250" u="none" cap="none" strike="noStrike">
                <a:solidFill>
                  <a:srgbClr val="14213D"/>
                </a:solidFill>
                <a:latin typeface="DM Sans SemiBold"/>
                <a:ea typeface="DM Sans SemiBold"/>
                <a:cs typeface="DM Sans SemiBold"/>
                <a:sym typeface="DM Sans SemiBold"/>
              </a:rPr>
              <a:t>Security, Privacy &amp; Compliance</a:t>
            </a:r>
            <a:endParaRPr b="0" i="0" sz="2250" u="none" cap="none" strike="noStrike">
              <a:solidFill>
                <a:schemeClr val="dk1"/>
              </a:solidFill>
              <a:latin typeface="Calibri"/>
              <a:ea typeface="Calibri"/>
              <a:cs typeface="Calibri"/>
              <a:sym typeface="Calibri"/>
            </a:endParaRPr>
          </a:p>
        </p:txBody>
      </p:sp>
      <p:sp>
        <p:nvSpPr>
          <p:cNvPr id="113" name="Google Shape;113;p7"/>
          <p:cNvSpPr/>
          <p:nvPr/>
        </p:nvSpPr>
        <p:spPr>
          <a:xfrm>
            <a:off x="661475" y="1255316"/>
            <a:ext cx="11478330" cy="148233"/>
          </a:xfrm>
          <a:prstGeom prst="rect">
            <a:avLst/>
          </a:prstGeom>
          <a:noFill/>
          <a:ln>
            <a:noFill/>
          </a:ln>
        </p:spPr>
        <p:txBody>
          <a:bodyPr anchorCtr="0" anchor="t" bIns="0" lIns="0" spcFirstLastPara="1" rIns="0" wrap="square" tIns="0">
            <a:noAutofit/>
          </a:bodyPr>
          <a:lstStyle/>
          <a:p>
            <a:pPr indent="0" lvl="0" marL="0" marR="0" rtl="0" algn="l">
              <a:lnSpc>
                <a:spcPct val="107000"/>
              </a:lnSpc>
              <a:spcBef>
                <a:spcPts val="0"/>
              </a:spcBef>
              <a:spcAft>
                <a:spcPts val="0"/>
              </a:spcAft>
              <a:buClr>
                <a:srgbClr val="4A5568"/>
              </a:buClr>
              <a:buSzPts val="900"/>
              <a:buFont typeface="Inter Medium"/>
              <a:buNone/>
            </a:pPr>
            <a:r>
              <a:t/>
            </a:r>
            <a:endParaRPr b="0" i="0" sz="900" u="none" cap="none" strike="noStrike">
              <a:solidFill>
                <a:schemeClr val="dk1"/>
              </a:solidFill>
              <a:latin typeface="Calibri"/>
              <a:ea typeface="Calibri"/>
              <a:cs typeface="Calibri"/>
              <a:sym typeface="Calibri"/>
            </a:endParaRPr>
          </a:p>
        </p:txBody>
      </p:sp>
      <p:sp>
        <p:nvSpPr>
          <p:cNvPr id="114" name="Google Shape;114;p7"/>
          <p:cNvSpPr/>
          <p:nvPr/>
        </p:nvSpPr>
        <p:spPr>
          <a:xfrm>
            <a:off x="661475" y="1508820"/>
            <a:ext cx="2049312" cy="17988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100"/>
              <a:buFont typeface="DM Sans SemiBold"/>
              <a:buNone/>
            </a:pPr>
            <a:r>
              <a:rPr b="0" i="0" lang="en-US" sz="1100" u="none" cap="none" strike="noStrike">
                <a:solidFill>
                  <a:srgbClr val="14213D"/>
                </a:solidFill>
                <a:latin typeface="DM Sans SemiBold"/>
                <a:ea typeface="DM Sans SemiBold"/>
                <a:cs typeface="DM Sans SemiBold"/>
                <a:sym typeface="DM Sans SemiBold"/>
              </a:rPr>
              <a:t>Security Features</a:t>
            </a:r>
            <a:endParaRPr b="0" i="0" sz="1100" u="none" cap="none" strike="noStrike">
              <a:solidFill>
                <a:schemeClr val="dk1"/>
              </a:solidFill>
              <a:latin typeface="Calibri"/>
              <a:ea typeface="Calibri"/>
              <a:cs typeface="Calibri"/>
              <a:sym typeface="Calibri"/>
            </a:endParaRPr>
          </a:p>
        </p:txBody>
      </p:sp>
      <p:sp>
        <p:nvSpPr>
          <p:cNvPr id="115" name="Google Shape;115;p7"/>
          <p:cNvSpPr/>
          <p:nvPr/>
        </p:nvSpPr>
        <p:spPr>
          <a:xfrm>
            <a:off x="661475" y="1846299"/>
            <a:ext cx="10868700" cy="829500"/>
          </a:xfrm>
          <a:prstGeom prst="rect">
            <a:avLst/>
          </a:prstGeom>
          <a:noFill/>
          <a:ln>
            <a:noFill/>
          </a:ln>
        </p:spPr>
        <p:txBody>
          <a:bodyPr anchorCtr="0" anchor="t" bIns="0" lIns="0" spcFirstLastPara="1" rIns="0" wrap="square" tIns="0">
            <a:noAutofit/>
          </a:bodyPr>
          <a:lstStyle/>
          <a:p>
            <a:pPr indent="-298450" lvl="0" marL="457200" rtl="0" algn="l">
              <a:lnSpc>
                <a:spcPct val="107000"/>
              </a:lnSpc>
              <a:spcBef>
                <a:spcPts val="600"/>
              </a:spcBef>
              <a:spcAft>
                <a:spcPts val="0"/>
              </a:spcAft>
              <a:buClr>
                <a:schemeClr val="dk1"/>
              </a:buClr>
              <a:buSzPts val="1100"/>
              <a:buFont typeface="Calibri"/>
              <a:buChar char="●"/>
            </a:pPr>
            <a:r>
              <a:rPr lang="en-US" sz="1100">
                <a:solidFill>
                  <a:srgbClr val="4A5568"/>
                </a:solidFill>
                <a:latin typeface="Inter Medium"/>
                <a:ea typeface="Inter Medium"/>
                <a:cs typeface="Inter Medium"/>
                <a:sym typeface="Inter Medium"/>
              </a:rPr>
              <a:t>Utilizes encrypted control channels between the Central Controller and the THz nodes to prevent unauthorized physical actuation or rogue repositioning.</a:t>
            </a:r>
            <a:endParaRPr sz="1100">
              <a:solidFill>
                <a:srgbClr val="4A5568"/>
              </a:solidFill>
              <a:latin typeface="Inter Medium"/>
              <a:ea typeface="Inter Medium"/>
              <a:cs typeface="Inter Medium"/>
              <a:sym typeface="Inter Medium"/>
            </a:endParaRPr>
          </a:p>
          <a:p>
            <a:pPr indent="-298450" lvl="0" marL="457200" rtl="0" algn="l">
              <a:lnSpc>
                <a:spcPct val="107000"/>
              </a:lnSpc>
              <a:spcBef>
                <a:spcPts val="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Implements a Zero-Trust architecture, ensuring the mechanical mobility platforms only accept commands from authenticated swarm algorithms.</a:t>
            </a:r>
            <a:endParaRPr sz="1100">
              <a:solidFill>
                <a:srgbClr val="4A5568"/>
              </a:solidFill>
              <a:latin typeface="Inter Medium"/>
              <a:ea typeface="Inter Medium"/>
              <a:cs typeface="Inter Medium"/>
              <a:sym typeface="Inter Medium"/>
            </a:endParaRPr>
          </a:p>
          <a:p>
            <a:pPr indent="0" lvl="0" marL="457200" marR="0" rtl="0" algn="l">
              <a:lnSpc>
                <a:spcPct val="107000"/>
              </a:lnSpc>
              <a:spcBef>
                <a:spcPts val="600"/>
              </a:spcBef>
              <a:spcAft>
                <a:spcPts val="0"/>
              </a:spcAft>
              <a:buNone/>
            </a:pPr>
            <a:r>
              <a:t/>
            </a:r>
            <a:endParaRPr sz="1100">
              <a:solidFill>
                <a:srgbClr val="4A5568"/>
              </a:solidFill>
              <a:latin typeface="Inter Medium"/>
              <a:ea typeface="Inter Medium"/>
              <a:cs typeface="Inter Medium"/>
              <a:sym typeface="Inter Medium"/>
            </a:endParaRPr>
          </a:p>
        </p:txBody>
      </p:sp>
      <p:sp>
        <p:nvSpPr>
          <p:cNvPr id="116" name="Google Shape;116;p7"/>
          <p:cNvSpPr/>
          <p:nvPr/>
        </p:nvSpPr>
        <p:spPr>
          <a:xfrm>
            <a:off x="661475" y="2586226"/>
            <a:ext cx="2049300" cy="180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100"/>
              <a:buFont typeface="DM Sans SemiBold"/>
              <a:buNone/>
            </a:pPr>
            <a:r>
              <a:rPr b="0" i="0" lang="en-US" sz="1100" u="none" cap="none" strike="noStrike">
                <a:solidFill>
                  <a:srgbClr val="14213D"/>
                </a:solidFill>
                <a:latin typeface="DM Sans SemiBold"/>
                <a:ea typeface="DM Sans SemiBold"/>
                <a:cs typeface="DM Sans SemiBold"/>
                <a:sym typeface="DM Sans SemiBold"/>
              </a:rPr>
              <a:t>Data Privacy</a:t>
            </a:r>
            <a:endParaRPr b="0" i="0" sz="1100" u="none" cap="none" strike="noStrike">
              <a:solidFill>
                <a:schemeClr val="dk1"/>
              </a:solidFill>
              <a:latin typeface="Calibri"/>
              <a:ea typeface="Calibri"/>
              <a:cs typeface="Calibri"/>
              <a:sym typeface="Calibri"/>
            </a:endParaRPr>
          </a:p>
        </p:txBody>
      </p:sp>
      <p:sp>
        <p:nvSpPr>
          <p:cNvPr id="117" name="Google Shape;117;p7"/>
          <p:cNvSpPr/>
          <p:nvPr/>
        </p:nvSpPr>
        <p:spPr>
          <a:xfrm>
            <a:off x="661450" y="2897518"/>
            <a:ext cx="10868700" cy="829500"/>
          </a:xfrm>
          <a:prstGeom prst="rect">
            <a:avLst/>
          </a:prstGeom>
          <a:noFill/>
          <a:ln>
            <a:noFill/>
          </a:ln>
        </p:spPr>
        <p:txBody>
          <a:bodyPr anchorCtr="0" anchor="t" bIns="0" lIns="0" spcFirstLastPara="1" rIns="0" wrap="square" tIns="0">
            <a:noAutofit/>
          </a:bodyPr>
          <a:lstStyle/>
          <a:p>
            <a:pPr indent="-285750" lvl="0" marL="457200" marR="0" rtl="0" algn="l">
              <a:lnSpc>
                <a:spcPct val="107000"/>
              </a:lnSpc>
              <a:spcBef>
                <a:spcPts val="600"/>
              </a:spcBef>
              <a:spcAft>
                <a:spcPts val="0"/>
              </a:spcAft>
              <a:buClr>
                <a:schemeClr val="dk1"/>
              </a:buClr>
              <a:buSzPts val="900"/>
              <a:buFont typeface="Calibri"/>
              <a:buChar char="●"/>
            </a:pPr>
            <a:r>
              <a:rPr b="1" lang="en-US" sz="1100">
                <a:solidFill>
                  <a:schemeClr val="dk1"/>
                </a:solidFill>
              </a:rPr>
              <a:t>Privacy-by-Design:</a:t>
            </a:r>
            <a:r>
              <a:rPr lang="en-US" sz="1100">
                <a:solidFill>
                  <a:schemeClr val="dk1"/>
                </a:solidFill>
              </a:rPr>
              <a:t> Environmental sensors (cameras/LiDAR/Wi-Fi probes) never record, store, or transmit Personally Identifiable Information (PII). </a:t>
            </a:r>
            <a:endParaRPr sz="1100">
              <a:solidFill>
                <a:schemeClr val="dk1"/>
              </a:solidFill>
            </a:endParaRPr>
          </a:p>
          <a:p>
            <a:pPr indent="-298450" lvl="0" marL="457200" marR="0" rtl="0" algn="l">
              <a:lnSpc>
                <a:spcPct val="107000"/>
              </a:lnSpc>
              <a:spcBef>
                <a:spcPts val="0"/>
              </a:spcBef>
              <a:spcAft>
                <a:spcPts val="0"/>
              </a:spcAft>
              <a:buClr>
                <a:schemeClr val="dk1"/>
              </a:buClr>
              <a:buSzPts val="1100"/>
              <a:buChar char="●"/>
            </a:pPr>
            <a:r>
              <a:rPr lang="en-US" sz="1100">
                <a:solidFill>
                  <a:schemeClr val="dk1"/>
                </a:solidFill>
              </a:rPr>
              <a:t>Edge-processing instantly converts raw sensor data into an anonymized mathematical density matrix (D(x, y, t)). </a:t>
            </a:r>
            <a:endParaRPr sz="1100">
              <a:solidFill>
                <a:schemeClr val="dk1"/>
              </a:solidFill>
            </a:endParaRPr>
          </a:p>
          <a:p>
            <a:pPr indent="-298450" lvl="0" marL="457200" marR="0" rtl="0" algn="l">
              <a:lnSpc>
                <a:spcPct val="107000"/>
              </a:lnSpc>
              <a:spcBef>
                <a:spcPts val="0"/>
              </a:spcBef>
              <a:spcAft>
                <a:spcPts val="0"/>
              </a:spcAft>
              <a:buClr>
                <a:schemeClr val="dk1"/>
              </a:buClr>
              <a:buSzPts val="1100"/>
              <a:buChar char="●"/>
            </a:pPr>
            <a:r>
              <a:rPr lang="en-US" sz="1100">
                <a:solidFill>
                  <a:schemeClr val="dk1"/>
                </a:solidFill>
              </a:rPr>
              <a:t>The optimization algorithm only registers human crowds as temporary Radio-Frequency (RF) attenuation obstacles (blockages), ensuring complete user anonymity. </a:t>
            </a:r>
            <a:endParaRPr sz="1100">
              <a:solidFill>
                <a:schemeClr val="dk1"/>
              </a:solidFill>
            </a:endParaRPr>
          </a:p>
        </p:txBody>
      </p:sp>
      <p:sp>
        <p:nvSpPr>
          <p:cNvPr id="118" name="Google Shape;118;p7"/>
          <p:cNvSpPr/>
          <p:nvPr/>
        </p:nvSpPr>
        <p:spPr>
          <a:xfrm>
            <a:off x="661475" y="3948807"/>
            <a:ext cx="2338726" cy="17988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100"/>
              <a:buFont typeface="DM Sans SemiBold"/>
              <a:buNone/>
            </a:pPr>
            <a:r>
              <a:rPr b="0" i="0" lang="en-US" sz="1100" u="none" cap="none" strike="noStrike">
                <a:solidFill>
                  <a:srgbClr val="14213D"/>
                </a:solidFill>
                <a:latin typeface="DM Sans SemiBold"/>
                <a:ea typeface="DM Sans SemiBold"/>
                <a:cs typeface="DM Sans SemiBold"/>
                <a:sym typeface="DM Sans SemiBold"/>
              </a:rPr>
              <a:t>Compliance &amp; Standards</a:t>
            </a:r>
            <a:endParaRPr b="0" i="0" sz="1100" u="none" cap="none" strike="noStrike">
              <a:solidFill>
                <a:schemeClr val="dk1"/>
              </a:solidFill>
              <a:latin typeface="Calibri"/>
              <a:ea typeface="Calibri"/>
              <a:cs typeface="Calibri"/>
              <a:sym typeface="Calibri"/>
            </a:endParaRPr>
          </a:p>
        </p:txBody>
      </p:sp>
      <p:sp>
        <p:nvSpPr>
          <p:cNvPr id="119" name="Google Shape;119;p7"/>
          <p:cNvSpPr/>
          <p:nvPr/>
        </p:nvSpPr>
        <p:spPr>
          <a:xfrm>
            <a:off x="661475" y="4233962"/>
            <a:ext cx="10868745" cy="829568"/>
          </a:xfrm>
          <a:prstGeom prst="rect">
            <a:avLst/>
          </a:prstGeom>
          <a:noFill/>
          <a:ln>
            <a:noFill/>
          </a:ln>
        </p:spPr>
        <p:txBody>
          <a:bodyPr anchorCtr="0" anchor="t" bIns="0" lIns="0" spcFirstLastPara="1" rIns="0" wrap="square" tIns="0">
            <a:noAutofit/>
          </a:bodyPr>
          <a:lstStyle/>
          <a:p>
            <a:pPr indent="-298450" lvl="0" marL="457200" marR="0" rtl="0" algn="l">
              <a:lnSpc>
                <a:spcPct val="107000"/>
              </a:lnSpc>
              <a:spcBef>
                <a:spcPts val="600"/>
              </a:spcBef>
              <a:spcAft>
                <a:spcPts val="0"/>
              </a:spcAft>
              <a:buClr>
                <a:schemeClr val="dk1"/>
              </a:buClr>
              <a:buSzPts val="1100"/>
              <a:buFont typeface="Calibri"/>
              <a:buChar char="●"/>
            </a:pPr>
            <a:r>
              <a:rPr lang="en-US" sz="1100">
                <a:solidFill>
                  <a:srgbClr val="4A5568"/>
                </a:solidFill>
                <a:latin typeface="Inter Medium"/>
                <a:ea typeface="Inter Medium"/>
                <a:cs typeface="Inter Medium"/>
                <a:sym typeface="Inter Medium"/>
              </a:rPr>
              <a:t>Designed to adhere to standard 3GPP and IEEE protocols for 5G-Advanced and upcoming 6G network architectures. </a:t>
            </a:r>
            <a:endParaRPr sz="1100">
              <a:solidFill>
                <a:srgbClr val="4A5568"/>
              </a:solidFill>
              <a:latin typeface="Inter Medium"/>
              <a:ea typeface="Inter Medium"/>
              <a:cs typeface="Inter Medium"/>
              <a:sym typeface="Inter Medium"/>
            </a:endParaRPr>
          </a:p>
          <a:p>
            <a:pPr indent="-298450" lvl="0" marL="457200" marR="0" rtl="0" algn="l">
              <a:lnSpc>
                <a:spcPct val="107000"/>
              </a:lnSpc>
              <a:spcBef>
                <a:spcPts val="0"/>
              </a:spcBef>
              <a:spcAft>
                <a:spcPts val="0"/>
              </a:spcAft>
              <a:buClr>
                <a:srgbClr val="4A5568"/>
              </a:buClr>
              <a:buSzPts val="1100"/>
              <a:buFont typeface="Inter Medium"/>
              <a:buChar char="●"/>
            </a:pPr>
            <a:r>
              <a:rPr lang="en-US" sz="1100">
                <a:solidFill>
                  <a:srgbClr val="4A5568"/>
                </a:solidFill>
                <a:latin typeface="Inter Medium"/>
                <a:ea typeface="Inter Medium"/>
                <a:cs typeface="Inter Medium"/>
                <a:sym typeface="Inter Medium"/>
              </a:rPr>
              <a:t>Meets physical safety and occupational hazard standards by enforcing minimum inter-node separation distances and safe transit pathways. </a:t>
            </a:r>
            <a:endParaRPr sz="1100">
              <a:solidFill>
                <a:srgbClr val="4A5568"/>
              </a:solidFill>
              <a:latin typeface="Inter Medium"/>
              <a:ea typeface="Inter Medium"/>
              <a:cs typeface="Inter Medium"/>
              <a:sym typeface="Inter Medium"/>
            </a:endParaRPr>
          </a:p>
        </p:txBody>
      </p:sp>
      <p:sp>
        <p:nvSpPr>
          <p:cNvPr id="120" name="Google Shape;120;p7"/>
          <p:cNvSpPr/>
          <p:nvPr/>
        </p:nvSpPr>
        <p:spPr>
          <a:xfrm>
            <a:off x="661475" y="5063526"/>
            <a:ext cx="2049300" cy="180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100"/>
              <a:buFont typeface="DM Sans SemiBold"/>
              <a:buNone/>
            </a:pPr>
            <a:r>
              <a:rPr b="0" i="0" lang="en-US" sz="1100" u="none" cap="none" strike="noStrike">
                <a:solidFill>
                  <a:srgbClr val="14213D"/>
                </a:solidFill>
                <a:latin typeface="DM Sans SemiBold"/>
                <a:ea typeface="DM Sans SemiBold"/>
                <a:cs typeface="DM Sans SemiBold"/>
                <a:sym typeface="DM Sans SemiBold"/>
              </a:rPr>
              <a:t>System Resilience</a:t>
            </a:r>
            <a:endParaRPr b="0" i="0" sz="1100" u="none" cap="none" strike="noStrike">
              <a:solidFill>
                <a:schemeClr val="dk1"/>
              </a:solidFill>
              <a:latin typeface="Calibri"/>
              <a:ea typeface="Calibri"/>
              <a:cs typeface="Calibri"/>
              <a:sym typeface="Calibri"/>
            </a:endParaRPr>
          </a:p>
        </p:txBody>
      </p:sp>
      <p:sp>
        <p:nvSpPr>
          <p:cNvPr id="121" name="Google Shape;121;p7"/>
          <p:cNvSpPr/>
          <p:nvPr/>
        </p:nvSpPr>
        <p:spPr>
          <a:xfrm>
            <a:off x="661475" y="5311280"/>
            <a:ext cx="10868700" cy="829500"/>
          </a:xfrm>
          <a:prstGeom prst="rect">
            <a:avLst/>
          </a:prstGeom>
          <a:noFill/>
          <a:ln>
            <a:noFill/>
          </a:ln>
        </p:spPr>
        <p:txBody>
          <a:bodyPr anchorCtr="0" anchor="t" bIns="0" lIns="0" spcFirstLastPara="1" rIns="0" wrap="square" tIns="0">
            <a:noAutofit/>
          </a:bodyPr>
          <a:lstStyle/>
          <a:p>
            <a:pPr indent="-285750" lvl="0" marL="457200" marR="0" rtl="0" algn="l">
              <a:lnSpc>
                <a:spcPct val="107000"/>
              </a:lnSpc>
              <a:spcBef>
                <a:spcPts val="600"/>
              </a:spcBef>
              <a:spcAft>
                <a:spcPts val="0"/>
              </a:spcAft>
              <a:buClr>
                <a:schemeClr val="dk1"/>
              </a:buClr>
              <a:buSzPts val="900"/>
              <a:buFont typeface="Calibri"/>
              <a:buChar char="●"/>
            </a:pPr>
            <a:r>
              <a:rPr b="1" lang="en-US" sz="1100">
                <a:solidFill>
                  <a:schemeClr val="dk1"/>
                </a:solidFill>
              </a:rPr>
              <a:t>Autonomous Self-Healing:</a:t>
            </a:r>
            <a:r>
              <a:rPr lang="en-US" sz="1100">
                <a:solidFill>
                  <a:schemeClr val="dk1"/>
                </a:solidFill>
              </a:rPr>
              <a:t> Powered by swarm intelligence; if one node fails or is heavily obstructed, the swarm automatically re-optimizes the remaining nodes to cover the dead zone. </a:t>
            </a:r>
            <a:endParaRPr sz="1100">
              <a:solidFill>
                <a:schemeClr val="dk1"/>
              </a:solidFill>
            </a:endParaRPr>
          </a:p>
          <a:p>
            <a:pPr indent="-298450" lvl="0" marL="457200" marR="0" rtl="0" algn="l">
              <a:lnSpc>
                <a:spcPct val="107000"/>
              </a:lnSpc>
              <a:spcBef>
                <a:spcPts val="0"/>
              </a:spcBef>
              <a:spcAft>
                <a:spcPts val="0"/>
              </a:spcAft>
              <a:buClr>
                <a:schemeClr val="dk1"/>
              </a:buClr>
              <a:buSzPts val="1100"/>
              <a:buChar char="●"/>
            </a:pPr>
            <a:r>
              <a:rPr b="1" lang="en-US" sz="1100">
                <a:solidFill>
                  <a:schemeClr val="dk1"/>
                </a:solidFill>
              </a:rPr>
              <a:t>Hierarchical Fallback:</a:t>
            </a:r>
            <a:r>
              <a:rPr lang="en-US" sz="1100">
                <a:solidFill>
                  <a:schemeClr val="dk1"/>
                </a:solidFill>
              </a:rPr>
              <a:t> If mechanical movement components fail, the system falls back to Tier 1/Tier 2 electronic beamforming to maintain baseline coverage. </a:t>
            </a:r>
            <a:endParaRPr sz="1100">
              <a:solidFill>
                <a:schemeClr val="dk1"/>
              </a:solidFill>
            </a:endParaRPr>
          </a:p>
        </p:txBody>
      </p:sp>
      <p:sp>
        <p:nvSpPr>
          <p:cNvPr id="122" name="Google Shape;122;p7"/>
          <p:cNvSpPr/>
          <p:nvPr/>
        </p:nvSpPr>
        <p:spPr>
          <a:xfrm>
            <a:off x="0" y="0"/>
            <a:ext cx="76200" cy="6858000"/>
          </a:xfrm>
          <a:prstGeom prst="rect">
            <a:avLst/>
          </a:prstGeom>
          <a:solidFill>
            <a:srgbClr val="1F6F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p:nvPr/>
        </p:nvSpPr>
        <p:spPr>
          <a:xfrm>
            <a:off x="661475" y="766068"/>
            <a:ext cx="6425642" cy="36591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2300"/>
              <a:buFont typeface="DM Sans SemiBold"/>
              <a:buNone/>
            </a:pPr>
            <a:r>
              <a:rPr b="0" i="0" lang="en-US" sz="2300" u="none" cap="none" strike="noStrike">
                <a:solidFill>
                  <a:srgbClr val="14213D"/>
                </a:solidFill>
                <a:latin typeface="DM Sans SemiBold"/>
                <a:ea typeface="DM Sans SemiBold"/>
                <a:cs typeface="DM Sans SemiBold"/>
                <a:sym typeface="DM Sans SemiBold"/>
              </a:rPr>
              <a:t>Prototype Demonstration &amp; Functionality</a:t>
            </a:r>
            <a:endParaRPr b="0" i="0" sz="2300" u="none" cap="none" strike="noStrike">
              <a:solidFill>
                <a:schemeClr val="dk1"/>
              </a:solidFill>
              <a:latin typeface="Calibri"/>
              <a:ea typeface="Calibri"/>
              <a:cs typeface="Calibri"/>
              <a:sym typeface="Calibri"/>
            </a:endParaRPr>
          </a:p>
        </p:txBody>
      </p:sp>
      <p:sp>
        <p:nvSpPr>
          <p:cNvPr id="129" name="Google Shape;129;p8"/>
          <p:cNvSpPr/>
          <p:nvPr/>
        </p:nvSpPr>
        <p:spPr>
          <a:xfrm>
            <a:off x="661475" y="1240730"/>
            <a:ext cx="11478330" cy="151606"/>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A5568"/>
              </a:buClr>
              <a:buSzPts val="900"/>
              <a:buFont typeface="Inter Medium"/>
              <a:buNone/>
            </a:pPr>
            <a:r>
              <a:t/>
            </a:r>
            <a:endParaRPr b="0" i="0" sz="900" u="none" cap="none" strike="noStrike">
              <a:solidFill>
                <a:schemeClr val="dk1"/>
              </a:solidFill>
              <a:latin typeface="Calibri"/>
              <a:ea typeface="Calibri"/>
              <a:cs typeface="Calibri"/>
              <a:sym typeface="Calibri"/>
            </a:endParaRPr>
          </a:p>
        </p:txBody>
      </p:sp>
      <p:sp>
        <p:nvSpPr>
          <p:cNvPr id="130" name="Google Shape;130;p8"/>
          <p:cNvSpPr/>
          <p:nvPr/>
        </p:nvSpPr>
        <p:spPr>
          <a:xfrm>
            <a:off x="661475" y="1501080"/>
            <a:ext cx="2424052" cy="18286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150"/>
              <a:buFont typeface="DM Sans SemiBold"/>
              <a:buNone/>
            </a:pPr>
            <a:r>
              <a:rPr b="0" i="0" lang="en-US" sz="1150" u="none" cap="none" strike="noStrike">
                <a:solidFill>
                  <a:srgbClr val="14213D"/>
                </a:solidFill>
                <a:latin typeface="DM Sans SemiBold"/>
                <a:ea typeface="DM Sans SemiBold"/>
                <a:cs typeface="DM Sans SemiBold"/>
                <a:sym typeface="DM Sans SemiBold"/>
              </a:rPr>
              <a:t>Product / Solution Image</a:t>
            </a:r>
            <a:endParaRPr b="0" i="0" sz="1150" u="none" cap="none" strike="noStrike">
              <a:solidFill>
                <a:schemeClr val="dk1"/>
              </a:solidFill>
              <a:latin typeface="Calibri"/>
              <a:ea typeface="Calibri"/>
              <a:cs typeface="Calibri"/>
              <a:sym typeface="Calibri"/>
            </a:endParaRPr>
          </a:p>
        </p:txBody>
      </p:sp>
      <p:sp>
        <p:nvSpPr>
          <p:cNvPr id="131" name="Google Shape;131;p8"/>
          <p:cNvSpPr/>
          <p:nvPr/>
        </p:nvSpPr>
        <p:spPr>
          <a:xfrm>
            <a:off x="661475" y="1792684"/>
            <a:ext cx="10868745" cy="1084263"/>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600"/>
              </a:spcBef>
              <a:spcAft>
                <a:spcPts val="0"/>
              </a:spcAft>
              <a:buClr>
                <a:srgbClr val="4A5568"/>
              </a:buClr>
              <a:buSzPts val="900"/>
              <a:buFont typeface="Inter Medium"/>
              <a:buNone/>
            </a:pPr>
            <a:r>
              <a:t/>
            </a:r>
            <a:endParaRPr b="0" i="0" sz="900" u="none" cap="none" strike="noStrike">
              <a:solidFill>
                <a:schemeClr val="dk1"/>
              </a:solidFill>
              <a:latin typeface="Calibri"/>
              <a:ea typeface="Calibri"/>
              <a:cs typeface="Calibri"/>
              <a:sym typeface="Calibri"/>
            </a:endParaRPr>
          </a:p>
        </p:txBody>
      </p:sp>
      <p:sp>
        <p:nvSpPr>
          <p:cNvPr id="132" name="Google Shape;132;p8"/>
          <p:cNvSpPr/>
          <p:nvPr/>
        </p:nvSpPr>
        <p:spPr>
          <a:xfrm>
            <a:off x="596550" y="4733466"/>
            <a:ext cx="2073300" cy="183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150"/>
              <a:buFont typeface="DM Sans SemiBold"/>
              <a:buNone/>
            </a:pPr>
            <a:r>
              <a:rPr b="0" i="0" lang="en-US" sz="1150" u="none" cap="none" strike="noStrike">
                <a:solidFill>
                  <a:srgbClr val="14213D"/>
                </a:solidFill>
                <a:latin typeface="DM Sans SemiBold"/>
                <a:ea typeface="DM Sans SemiBold"/>
                <a:cs typeface="DM Sans SemiBold"/>
                <a:sym typeface="DM Sans SemiBold"/>
              </a:rPr>
              <a:t>Demo Details</a:t>
            </a:r>
            <a:endParaRPr b="0" i="0" sz="1150" u="none" cap="none" strike="noStrike">
              <a:solidFill>
                <a:schemeClr val="dk1"/>
              </a:solidFill>
              <a:latin typeface="Calibri"/>
              <a:ea typeface="Calibri"/>
              <a:cs typeface="Calibri"/>
              <a:sym typeface="Calibri"/>
            </a:endParaRPr>
          </a:p>
        </p:txBody>
      </p:sp>
      <p:sp>
        <p:nvSpPr>
          <p:cNvPr id="133" name="Google Shape;133;p8"/>
          <p:cNvSpPr/>
          <p:nvPr/>
        </p:nvSpPr>
        <p:spPr>
          <a:xfrm>
            <a:off x="596550" y="4749345"/>
            <a:ext cx="10868700" cy="1317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600"/>
              </a:spcBef>
              <a:spcAft>
                <a:spcPts val="0"/>
              </a:spcAft>
              <a:buClr>
                <a:srgbClr val="4A5568"/>
              </a:buClr>
              <a:buSzPts val="900"/>
              <a:buFont typeface="Inter Medium"/>
              <a:buNone/>
            </a:pPr>
            <a:r>
              <a:t/>
            </a:r>
            <a:endParaRPr b="0" i="0" sz="900" u="none" cap="none" strike="noStrike">
              <a:solidFill>
                <a:schemeClr val="dk1"/>
              </a:solidFill>
              <a:latin typeface="Calibri"/>
              <a:ea typeface="Calibri"/>
              <a:cs typeface="Calibri"/>
              <a:sym typeface="Calibri"/>
            </a:endParaRPr>
          </a:p>
          <a:p>
            <a:pPr indent="0" lvl="0" marL="0" marR="0" rtl="0" algn="l">
              <a:lnSpc>
                <a:spcPct val="108000"/>
              </a:lnSpc>
              <a:spcBef>
                <a:spcPts val="600"/>
              </a:spcBef>
              <a:spcAft>
                <a:spcPts val="0"/>
              </a:spcAft>
              <a:buClr>
                <a:srgbClr val="4A5568"/>
              </a:buClr>
              <a:buSzPts val="900"/>
              <a:buFont typeface="Inter Medium"/>
              <a:buNone/>
            </a:pPr>
            <a:r>
              <a:t/>
            </a:r>
            <a:endParaRPr b="0" i="0" sz="900" u="none" cap="none" strike="noStrike">
              <a:solidFill>
                <a:schemeClr val="dk1"/>
              </a:solidFill>
              <a:latin typeface="Calibri"/>
              <a:ea typeface="Calibri"/>
              <a:cs typeface="Calibri"/>
              <a:sym typeface="Calibri"/>
            </a:endParaRPr>
          </a:p>
        </p:txBody>
      </p:sp>
      <p:sp>
        <p:nvSpPr>
          <p:cNvPr id="134" name="Google Shape;134;p8"/>
          <p:cNvSpPr/>
          <p:nvPr/>
        </p:nvSpPr>
        <p:spPr>
          <a:xfrm>
            <a:off x="6170850" y="4749340"/>
            <a:ext cx="3000300" cy="183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150"/>
              <a:buFont typeface="DM Sans SemiBold"/>
              <a:buNone/>
            </a:pPr>
            <a:r>
              <a:rPr b="0" i="0" lang="en-US" sz="1150" u="none" cap="none" strike="noStrike">
                <a:solidFill>
                  <a:srgbClr val="14213D"/>
                </a:solidFill>
                <a:latin typeface="DM Sans SemiBold"/>
                <a:ea typeface="DM Sans SemiBold"/>
                <a:cs typeface="DM Sans SemiBold"/>
                <a:sym typeface="DM Sans SemiBold"/>
              </a:rPr>
              <a:t>Key Functionalities to be Demonstrated</a:t>
            </a:r>
            <a:endParaRPr b="0" i="0" sz="1150" u="none" cap="none" strike="noStrike">
              <a:solidFill>
                <a:schemeClr val="dk1"/>
              </a:solidFill>
              <a:latin typeface="Calibri"/>
              <a:ea typeface="Calibri"/>
              <a:cs typeface="Calibri"/>
              <a:sym typeface="Calibri"/>
            </a:endParaRPr>
          </a:p>
        </p:txBody>
      </p:sp>
      <p:sp>
        <p:nvSpPr>
          <p:cNvPr id="135" name="Google Shape;135;p8"/>
          <p:cNvSpPr/>
          <p:nvPr/>
        </p:nvSpPr>
        <p:spPr>
          <a:xfrm>
            <a:off x="0" y="0"/>
            <a:ext cx="76200" cy="6858000"/>
          </a:xfrm>
          <a:prstGeom prst="rect">
            <a:avLst/>
          </a:prstGeom>
          <a:solidFill>
            <a:srgbClr val="1F6F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36" name="Google Shape;136;p8" title="WhatsApp Image 2026-07-29 at 4.59.12 PM.jpeg"/>
          <p:cNvPicPr preferRelativeResize="0"/>
          <p:nvPr/>
        </p:nvPicPr>
        <p:blipFill>
          <a:blip r:embed="rId3">
            <a:alphaModFix/>
          </a:blip>
          <a:stretch>
            <a:fillRect/>
          </a:stretch>
        </p:blipFill>
        <p:spPr>
          <a:xfrm>
            <a:off x="661475" y="1770112"/>
            <a:ext cx="4632600" cy="2585574"/>
          </a:xfrm>
          <a:prstGeom prst="rect">
            <a:avLst/>
          </a:prstGeom>
          <a:noFill/>
          <a:ln>
            <a:noFill/>
          </a:ln>
        </p:spPr>
      </p:pic>
      <p:sp>
        <p:nvSpPr>
          <p:cNvPr id="137" name="Google Shape;137;p8"/>
          <p:cNvSpPr txBox="1"/>
          <p:nvPr/>
        </p:nvSpPr>
        <p:spPr>
          <a:xfrm>
            <a:off x="6106825" y="2385575"/>
            <a:ext cx="4632600" cy="1244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1200"/>
              <a:t>This diagram illustrates our core mechanism: when a dynamic obstacle blocks the signal (left), the autonomous node physically repositions itself to create a clear bypass path and restore the network connection (right).</a:t>
            </a:r>
            <a:endParaRPr sz="1200"/>
          </a:p>
        </p:txBody>
      </p:sp>
      <p:sp>
        <p:nvSpPr>
          <p:cNvPr id="138" name="Google Shape;138;p8"/>
          <p:cNvSpPr/>
          <p:nvPr/>
        </p:nvSpPr>
        <p:spPr>
          <a:xfrm>
            <a:off x="6170850" y="5070850"/>
            <a:ext cx="5731200" cy="1317300"/>
          </a:xfrm>
          <a:prstGeom prst="rect">
            <a:avLst/>
          </a:prstGeom>
          <a:noFill/>
          <a:ln>
            <a:noFill/>
          </a:ln>
        </p:spPr>
        <p:txBody>
          <a:bodyPr anchorCtr="0" anchor="t" bIns="0" lIns="0" spcFirstLastPara="1" rIns="0" wrap="square" tIns="0">
            <a:noAutofit/>
          </a:bodyPr>
          <a:lstStyle/>
          <a:p>
            <a:pPr indent="-298450" lvl="0" marL="457200" rtl="0" algn="l">
              <a:lnSpc>
                <a:spcPct val="108000"/>
              </a:lnSpc>
              <a:spcBef>
                <a:spcPts val="600"/>
              </a:spcBef>
              <a:spcAft>
                <a:spcPts val="0"/>
              </a:spcAft>
              <a:buClr>
                <a:schemeClr val="dk1"/>
              </a:buClr>
              <a:buSzPts val="1100"/>
              <a:buChar char="●"/>
            </a:pPr>
            <a:r>
              <a:rPr b="1" lang="en-US" sz="1100">
                <a:solidFill>
                  <a:schemeClr val="dk1"/>
                </a:solidFill>
              </a:rPr>
              <a:t>Dynamic Blockage Mapping:</a:t>
            </a:r>
            <a:r>
              <a:rPr lang="en-US" sz="1100">
                <a:solidFill>
                  <a:schemeClr val="dk1"/>
                </a:solidFill>
              </a:rPr>
              <a:t> Real-time tracking of the human density matrix that triggers the initial line-of-sight signal loss.</a:t>
            </a:r>
            <a:endParaRPr sz="1100">
              <a:solidFill>
                <a:schemeClr val="dk1"/>
              </a:solidFill>
            </a:endParaRPr>
          </a:p>
          <a:p>
            <a:pPr indent="-298450" lvl="0" marL="457200" rtl="0" algn="l">
              <a:lnSpc>
                <a:spcPct val="108000"/>
              </a:lnSpc>
              <a:spcBef>
                <a:spcPts val="0"/>
              </a:spcBef>
              <a:spcAft>
                <a:spcPts val="0"/>
              </a:spcAft>
              <a:buClr>
                <a:schemeClr val="dk1"/>
              </a:buClr>
              <a:buSzPts val="1100"/>
              <a:buChar char="●"/>
            </a:pPr>
            <a:r>
              <a:rPr b="1" lang="en-US" sz="1100">
                <a:solidFill>
                  <a:schemeClr val="dk1"/>
                </a:solidFill>
              </a:rPr>
              <a:t>Swarm Optimization Engine:</a:t>
            </a:r>
            <a:r>
              <a:rPr lang="en-US" sz="1100">
                <a:solidFill>
                  <a:schemeClr val="dk1"/>
                </a:solidFill>
              </a:rPr>
              <a:t> Live execution of the decision algorithm to calculate the new optimal 3D coordinates for the network.</a:t>
            </a:r>
            <a:endParaRPr sz="1100">
              <a:solidFill>
                <a:schemeClr val="dk1"/>
              </a:solidFill>
            </a:endParaRPr>
          </a:p>
          <a:p>
            <a:pPr indent="-298450" lvl="0" marL="457200" rtl="0" algn="l">
              <a:lnSpc>
                <a:spcPct val="108000"/>
              </a:lnSpc>
              <a:spcBef>
                <a:spcPts val="0"/>
              </a:spcBef>
              <a:spcAft>
                <a:spcPts val="0"/>
              </a:spcAft>
              <a:buClr>
                <a:schemeClr val="dk1"/>
              </a:buClr>
              <a:buSzPts val="1100"/>
              <a:buChar char="●"/>
            </a:pPr>
            <a:r>
              <a:rPr b="1" lang="en-US" sz="1100">
                <a:solidFill>
                  <a:schemeClr val="dk1"/>
                </a:solidFill>
              </a:rPr>
              <a:t>Shortest-Path Assignment:</a:t>
            </a:r>
            <a:r>
              <a:rPr lang="en-US" sz="1100">
                <a:solidFill>
                  <a:schemeClr val="dk1"/>
                </a:solidFill>
              </a:rPr>
              <a:t> Demonstrating the displacement logic that assigns nodes to their new coordinates while minimizing mechanical wear.</a:t>
            </a:r>
            <a:endParaRPr sz="1100">
              <a:solidFill>
                <a:schemeClr val="dk1"/>
              </a:solidFill>
            </a:endParaRPr>
          </a:p>
          <a:p>
            <a:pPr indent="0" lvl="0" marL="0" marR="0" rtl="0" algn="l">
              <a:lnSpc>
                <a:spcPct val="108000"/>
              </a:lnSpc>
              <a:spcBef>
                <a:spcPts val="600"/>
              </a:spcBef>
              <a:spcAft>
                <a:spcPts val="0"/>
              </a:spcAft>
              <a:buClr>
                <a:srgbClr val="4A5568"/>
              </a:buClr>
              <a:buSzPts val="900"/>
              <a:buFont typeface="Inter Medium"/>
              <a:buNone/>
            </a:pPr>
            <a:r>
              <a:t/>
            </a:r>
            <a:endParaRPr sz="900">
              <a:solidFill>
                <a:srgbClr val="4A5568"/>
              </a:solidFill>
              <a:latin typeface="Inter Medium"/>
              <a:ea typeface="Inter Medium"/>
              <a:cs typeface="Inter Medium"/>
              <a:sym typeface="Inter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9"/>
          <p:cNvSpPr/>
          <p:nvPr/>
        </p:nvSpPr>
        <p:spPr>
          <a:xfrm>
            <a:off x="661475" y="548680"/>
            <a:ext cx="5691442" cy="40699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2550"/>
              <a:buFont typeface="DM Sans SemiBold"/>
              <a:buNone/>
            </a:pPr>
            <a:r>
              <a:rPr b="0" i="0" lang="en-US" sz="2550" u="none" cap="none" strike="noStrike">
                <a:solidFill>
                  <a:srgbClr val="14213D"/>
                </a:solidFill>
                <a:latin typeface="DM Sans SemiBold"/>
                <a:ea typeface="DM Sans SemiBold"/>
                <a:cs typeface="DM Sans SemiBold"/>
                <a:sym typeface="DM Sans SemiBold"/>
              </a:rPr>
              <a:t>Additional Information &amp; Closing</a:t>
            </a:r>
            <a:endParaRPr b="0" i="0" sz="2550" u="none" cap="none" strike="noStrike">
              <a:solidFill>
                <a:schemeClr val="dk1"/>
              </a:solidFill>
              <a:latin typeface="Calibri"/>
              <a:ea typeface="Calibri"/>
              <a:cs typeface="Calibri"/>
              <a:sym typeface="Calibri"/>
            </a:endParaRPr>
          </a:p>
        </p:txBody>
      </p:sp>
      <p:sp>
        <p:nvSpPr>
          <p:cNvPr id="145" name="Google Shape;145;p9"/>
          <p:cNvSpPr/>
          <p:nvPr/>
        </p:nvSpPr>
        <p:spPr>
          <a:xfrm>
            <a:off x="661475" y="1135162"/>
            <a:ext cx="10868745" cy="352028"/>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4A5568"/>
              </a:buClr>
              <a:buSzPts val="1000"/>
              <a:buFont typeface="Inter Medium"/>
              <a:buNone/>
            </a:pPr>
            <a:r>
              <a:t/>
            </a:r>
            <a:endParaRPr b="0" i="0" sz="1000" u="none" cap="none" strike="noStrike">
              <a:solidFill>
                <a:schemeClr val="dk1"/>
              </a:solidFill>
              <a:latin typeface="Calibri"/>
              <a:ea typeface="Calibri"/>
              <a:cs typeface="Calibri"/>
              <a:sym typeface="Calibri"/>
            </a:endParaRPr>
          </a:p>
        </p:txBody>
      </p:sp>
      <p:sp>
        <p:nvSpPr>
          <p:cNvPr id="146" name="Google Shape;146;p9"/>
          <p:cNvSpPr/>
          <p:nvPr/>
        </p:nvSpPr>
        <p:spPr>
          <a:xfrm>
            <a:off x="661475" y="1621730"/>
            <a:ext cx="2237624" cy="20349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250"/>
              <a:buFont typeface="DM Sans SemiBold"/>
              <a:buNone/>
            </a:pPr>
            <a:r>
              <a:rPr b="0" i="0" lang="en-US" sz="1250" u="none" cap="none" strike="noStrike">
                <a:solidFill>
                  <a:srgbClr val="14213D"/>
                </a:solidFill>
                <a:latin typeface="DM Sans SemiBold"/>
                <a:ea typeface="DM Sans SemiBold"/>
                <a:cs typeface="DM Sans SemiBold"/>
                <a:sym typeface="DM Sans SemiBold"/>
              </a:rPr>
              <a:t>Additional Details</a:t>
            </a:r>
            <a:endParaRPr b="0" i="0" sz="1250" u="none" cap="none" strike="noStrike">
              <a:solidFill>
                <a:schemeClr val="dk1"/>
              </a:solidFill>
              <a:latin typeface="Calibri"/>
              <a:ea typeface="Calibri"/>
              <a:cs typeface="Calibri"/>
              <a:sym typeface="Calibri"/>
            </a:endParaRPr>
          </a:p>
        </p:txBody>
      </p:sp>
      <p:sp>
        <p:nvSpPr>
          <p:cNvPr id="147" name="Google Shape;147;p9"/>
          <p:cNvSpPr/>
          <p:nvPr/>
        </p:nvSpPr>
        <p:spPr>
          <a:xfrm>
            <a:off x="661475" y="1959769"/>
            <a:ext cx="10868745" cy="1837531"/>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750"/>
              </a:spcBef>
              <a:spcAft>
                <a:spcPts val="0"/>
              </a:spcAft>
              <a:buClr>
                <a:srgbClr val="4A5568"/>
              </a:buClr>
              <a:buSzPts val="1000"/>
              <a:buFont typeface="Inter Medium"/>
              <a:buNone/>
            </a:pPr>
            <a:r>
              <a:rPr lang="en-US" sz="1000">
                <a:solidFill>
                  <a:srgbClr val="4A5568"/>
                </a:solidFill>
                <a:latin typeface="Inter Medium"/>
                <a:ea typeface="Inter Medium"/>
                <a:cs typeface="Inter Medium"/>
                <a:sym typeface="Inter Medium"/>
              </a:rPr>
              <a:t>We have made a Interactive website where we can see this project in action. The website can be accessed from here : </a:t>
            </a:r>
            <a:endParaRPr b="0" i="0" sz="1000" u="none" cap="none" strike="noStrike">
              <a:solidFill>
                <a:schemeClr val="dk1"/>
              </a:solidFill>
              <a:latin typeface="Calibri"/>
              <a:ea typeface="Calibri"/>
              <a:cs typeface="Calibri"/>
              <a:sym typeface="Calibri"/>
            </a:endParaRPr>
          </a:p>
        </p:txBody>
      </p:sp>
      <p:sp>
        <p:nvSpPr>
          <p:cNvPr id="148" name="Google Shape;148;p9"/>
          <p:cNvSpPr/>
          <p:nvPr/>
        </p:nvSpPr>
        <p:spPr>
          <a:xfrm>
            <a:off x="661475" y="3931841"/>
            <a:ext cx="2237624" cy="20349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4213D"/>
              </a:buClr>
              <a:buSzPts val="1250"/>
              <a:buFont typeface="DM Sans SemiBold"/>
              <a:buNone/>
            </a:pPr>
            <a:r>
              <a:rPr b="0" i="0" lang="en-US" sz="1250" u="none" cap="none" strike="noStrike">
                <a:solidFill>
                  <a:srgbClr val="14213D"/>
                </a:solidFill>
                <a:latin typeface="DM Sans SemiBold"/>
                <a:ea typeface="DM Sans SemiBold"/>
                <a:cs typeface="DM Sans SemiBold"/>
                <a:sym typeface="DM Sans SemiBold"/>
              </a:rPr>
              <a:t>References &amp; Links</a:t>
            </a:r>
            <a:endParaRPr b="0" i="0" sz="1250" u="none" cap="none" strike="noStrike">
              <a:solidFill>
                <a:schemeClr val="dk1"/>
              </a:solidFill>
              <a:latin typeface="Calibri"/>
              <a:ea typeface="Calibri"/>
              <a:cs typeface="Calibri"/>
              <a:sym typeface="Calibri"/>
            </a:endParaRPr>
          </a:p>
        </p:txBody>
      </p:sp>
      <p:sp>
        <p:nvSpPr>
          <p:cNvPr id="149" name="Google Shape;149;p9"/>
          <p:cNvSpPr/>
          <p:nvPr/>
        </p:nvSpPr>
        <p:spPr>
          <a:xfrm>
            <a:off x="661475" y="4269879"/>
            <a:ext cx="10868745" cy="1283692"/>
          </a:xfrm>
          <a:prstGeom prst="rect">
            <a:avLst/>
          </a:prstGeom>
          <a:noFill/>
          <a:ln>
            <a:noFill/>
          </a:ln>
        </p:spPr>
        <p:txBody>
          <a:bodyPr anchorCtr="0" anchor="t" bIns="0" lIns="0" spcFirstLastPara="1" rIns="0" wrap="square" tIns="0">
            <a:noAutofit/>
          </a:bodyPr>
          <a:lstStyle/>
          <a:p>
            <a:pPr indent="-292100" lvl="0" marL="457200" marR="0" rtl="0" algn="l">
              <a:lnSpc>
                <a:spcPct val="113000"/>
              </a:lnSpc>
              <a:spcBef>
                <a:spcPts val="750"/>
              </a:spcBef>
              <a:spcAft>
                <a:spcPts val="0"/>
              </a:spcAft>
              <a:buClr>
                <a:schemeClr val="dk1"/>
              </a:buClr>
              <a:buSzPts val="1000"/>
              <a:buFont typeface="Calibri"/>
              <a:buChar char="●"/>
            </a:pPr>
            <a:r>
              <a:rPr b="1" lang="en-US" sz="1100">
                <a:solidFill>
                  <a:schemeClr val="dk1"/>
                </a:solidFill>
              </a:rPr>
              <a:t>Patent Pending:</a:t>
            </a:r>
            <a:r>
              <a:rPr lang="en-US" sz="1100">
                <a:solidFill>
                  <a:schemeClr val="dk1"/>
                </a:solidFill>
              </a:rPr>
              <a:t> "Autonomous Movement System for Coverage in High Frequency Bands" (Invention Disclosure Form drafted for IIT Bhilai).</a:t>
            </a:r>
            <a:endParaRPr sz="1100">
              <a:solidFill>
                <a:schemeClr val="dk1"/>
              </a:solidFill>
            </a:endParaRPr>
          </a:p>
          <a:p>
            <a:pPr indent="0" lvl="0" marL="457200" marR="0" rtl="0" algn="l">
              <a:lnSpc>
                <a:spcPct val="113000"/>
              </a:lnSpc>
              <a:spcBef>
                <a:spcPts val="750"/>
              </a:spcBef>
              <a:spcAft>
                <a:spcPts val="0"/>
              </a:spcAft>
              <a:buNone/>
            </a:pPr>
            <a:r>
              <a:t/>
            </a:r>
            <a:endParaRPr sz="1100">
              <a:solidFill>
                <a:schemeClr val="dk1"/>
              </a:solidFill>
            </a:endParaRPr>
          </a:p>
        </p:txBody>
      </p:sp>
      <p:sp>
        <p:nvSpPr>
          <p:cNvPr id="150" name="Google Shape;150;p9"/>
          <p:cNvSpPr/>
          <p:nvPr/>
        </p:nvSpPr>
        <p:spPr>
          <a:xfrm>
            <a:off x="454519" y="6299581"/>
            <a:ext cx="11283000" cy="176100"/>
          </a:xfrm>
          <a:prstGeom prst="rect">
            <a:avLst/>
          </a:prstGeom>
          <a:noFill/>
          <a:ln>
            <a:noFill/>
          </a:ln>
        </p:spPr>
        <p:txBody>
          <a:bodyPr anchorCtr="0" anchor="t" bIns="0" lIns="0" spcFirstLastPara="1" rIns="0" wrap="square" tIns="0">
            <a:noAutofit/>
          </a:bodyPr>
          <a:lstStyle/>
          <a:p>
            <a:pPr indent="0" lvl="0" marL="0" marR="0" rtl="0" algn="ctr">
              <a:lnSpc>
                <a:spcPct val="113000"/>
              </a:lnSpc>
              <a:spcBef>
                <a:spcPts val="0"/>
              </a:spcBef>
              <a:spcAft>
                <a:spcPts val="0"/>
              </a:spcAft>
              <a:buClr>
                <a:srgbClr val="4A5568"/>
              </a:buClr>
              <a:buSzPts val="1000"/>
              <a:buFont typeface="Inter Medium"/>
              <a:buNone/>
            </a:pPr>
            <a:r>
              <a:rPr b="0" i="0" lang="en-US" sz="1000" u="none" cap="none" strike="noStrike">
                <a:solidFill>
                  <a:srgbClr val="4A5568"/>
                </a:solidFill>
                <a:latin typeface="Inter Medium"/>
                <a:ea typeface="Inter Medium"/>
                <a:cs typeface="Inter Medium"/>
                <a:sym typeface="Inter Medium"/>
              </a:rPr>
              <a:t>Thank you for your submission.</a:t>
            </a:r>
            <a:endParaRPr b="0" i="0" sz="1000" u="none" cap="none" strike="noStrike">
              <a:solidFill>
                <a:schemeClr val="dk1"/>
              </a:solidFill>
              <a:latin typeface="Calibri"/>
              <a:ea typeface="Calibri"/>
              <a:cs typeface="Calibri"/>
              <a:sym typeface="Calibri"/>
            </a:endParaRPr>
          </a:p>
        </p:txBody>
      </p:sp>
      <p:sp>
        <p:nvSpPr>
          <p:cNvPr id="151" name="Google Shape;151;p9"/>
          <p:cNvSpPr/>
          <p:nvPr/>
        </p:nvSpPr>
        <p:spPr>
          <a:xfrm>
            <a:off x="356682" y="6606446"/>
            <a:ext cx="11478330" cy="176014"/>
          </a:xfrm>
          <a:prstGeom prst="rect">
            <a:avLst/>
          </a:prstGeom>
          <a:noFill/>
          <a:ln>
            <a:noFill/>
          </a:ln>
        </p:spPr>
        <p:txBody>
          <a:bodyPr anchorCtr="0" anchor="t" bIns="0" lIns="0" spcFirstLastPara="1" rIns="0" wrap="square" tIns="0">
            <a:noAutofit/>
          </a:bodyPr>
          <a:lstStyle/>
          <a:p>
            <a:pPr indent="0" lvl="0" marL="0" marR="0" rtl="0" algn="ctr">
              <a:lnSpc>
                <a:spcPct val="113000"/>
              </a:lnSpc>
              <a:spcBef>
                <a:spcPts val="0"/>
              </a:spcBef>
              <a:spcAft>
                <a:spcPts val="0"/>
              </a:spcAft>
              <a:buClr>
                <a:srgbClr val="4A5568"/>
              </a:buClr>
              <a:buSzPts val="1000"/>
              <a:buFont typeface="Inter"/>
              <a:buNone/>
            </a:pPr>
            <a:r>
              <a:rPr b="1" i="0" lang="en-US" sz="1000" u="none" cap="none" strike="noStrike">
                <a:solidFill>
                  <a:srgbClr val="4A5568"/>
                </a:solidFill>
                <a:latin typeface="Inter"/>
                <a:ea typeface="Inter"/>
                <a:cs typeface="Inter"/>
                <a:sym typeface="Inter"/>
              </a:rPr>
              <a:t>TCOE India · Emerging Technologies Hackathon 2026</a:t>
            </a:r>
            <a:endParaRPr b="0" i="0" sz="1000" u="none" cap="none" strike="noStrike">
              <a:solidFill>
                <a:schemeClr val="dk1"/>
              </a:solidFill>
              <a:latin typeface="Calibri"/>
              <a:ea typeface="Calibri"/>
              <a:cs typeface="Calibri"/>
              <a:sym typeface="Calibri"/>
            </a:endParaRPr>
          </a:p>
        </p:txBody>
      </p:sp>
      <p:sp>
        <p:nvSpPr>
          <p:cNvPr id="152" name="Google Shape;152;p9"/>
          <p:cNvSpPr/>
          <p:nvPr/>
        </p:nvSpPr>
        <p:spPr>
          <a:xfrm>
            <a:off x="0" y="0"/>
            <a:ext cx="76200" cy="6858000"/>
          </a:xfrm>
          <a:prstGeom prst="rect">
            <a:avLst/>
          </a:prstGeom>
          <a:solidFill>
            <a:srgbClr val="1F6F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1782968433114]">
  <a:themeElements>
    <a:clrScheme name="Office">
      <a:dk1>
        <a:srgbClr val="14213D"/>
      </a:dk1>
      <a:lt1>
        <a:srgbClr val="FFFFFF"/>
      </a:lt1>
      <a:dk2>
        <a:srgbClr val="12447A"/>
      </a:dk2>
      <a:lt2>
        <a:srgbClr val="F1F5FB"/>
      </a:lt2>
      <a:accent1>
        <a:srgbClr val="1F6FEB"/>
      </a:accent1>
      <a:accent2>
        <a:srgbClr val="12447A"/>
      </a:accent2>
      <a:accent3>
        <a:srgbClr val="4A5568"/>
      </a:accent3>
      <a:accent4>
        <a:srgbClr val="3B82F6"/>
      </a:accent4>
      <a:accent5>
        <a:srgbClr val="E8F0FE"/>
      </a:accent5>
      <a:accent6>
        <a:srgbClr val="94A3B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2026-07-01T16:51:08Z</dcterms:created>
  <dc:creator>PANKAJ YADAV</dc:creator>
</cp:coreProperties>
</file>